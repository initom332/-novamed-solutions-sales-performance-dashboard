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7" r:id="rId5"/>
    <p:sldId id="258" r:id="rId6"/>
    <p:sldId id="276" r:id="rId7"/>
    <p:sldId id="275" r:id="rId8"/>
    <p:sldId id="277" r:id="rId9"/>
    <p:sldId id="260" r:id="rId10"/>
    <p:sldId id="261" r:id="rId11"/>
    <p:sldId id="262" r:id="rId12"/>
    <p:sldId id="263" r:id="rId13"/>
    <p:sldId id="265" r:id="rId14"/>
    <p:sldId id="267" r:id="rId15"/>
    <p:sldId id="278" r:id="rId16"/>
    <p:sldId id="280" r:id="rId17"/>
    <p:sldId id="281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ni tom" initials="it" lastIdx="2" clrIdx="0">
    <p:extLst>
      <p:ext uri="{19B8F6BF-5375-455C-9EA6-DF929625EA0E}">
        <p15:presenceInfo xmlns:p15="http://schemas.microsoft.com/office/powerpoint/2012/main" userId="4512359b7a3905c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966"/>
    <a:srgbClr val="00525C"/>
    <a:srgbClr val="0090A2"/>
    <a:srgbClr val="FFFFFF"/>
    <a:srgbClr val="14A1B8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4" autoAdjust="0"/>
  </p:normalViewPr>
  <p:slideViewPr>
    <p:cSldViewPr snapToGrid="0">
      <p:cViewPr varScale="1">
        <p:scale>
          <a:sx n="69" d="100"/>
          <a:sy n="69" d="100"/>
        </p:scale>
        <p:origin x="78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02T17:46:14.871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02T17:46:14.871" idx="2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5716D-39C9-48C4-A3EB-B88E4515427D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C6D3C-9EB0-4F2C-9026-3887D1CDB4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763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612000" tIns="0" anchor="ctr"/>
          <a:lstStyle>
            <a:lvl1pPr marL="0" indent="0" algn="l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00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anchor="ctr"/>
          <a:lstStyle>
            <a:lvl1pPr algn="l"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97F3D-57FA-4E82-9EEC-E93088055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0" y="4276447"/>
            <a:ext cx="5161550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144000" anchor="ctr"/>
          <a:lstStyle>
            <a:lvl1pPr marL="0" indent="0" algn="l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1775C8-C7F0-4EC5-A9C0-53AE3A0C5F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0" y="6262080"/>
            <a:ext cx="7560000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8B0AE2-DA19-49E2-AC81-5272385D30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5689F-8B6B-4484-8064-90B4D8FB7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7343" y="2731933"/>
            <a:ext cx="6903253" cy="3350673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576000" tIns="1872000" rIns="576000"/>
          <a:lstStyle>
            <a:lvl1pPr marL="0" indent="0">
              <a:lnSpc>
                <a:spcPts val="2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Describe Your Big Idea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57B9832-0120-4094-8C27-082E3533C5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012000" cy="6858000"/>
          </a:xfrm>
          <a:custGeom>
            <a:avLst/>
            <a:gdLst>
              <a:gd name="connsiteX0" fmla="*/ 0 w 12012000"/>
              <a:gd name="connsiteY0" fmla="*/ 0 h 6858000"/>
              <a:gd name="connsiteX1" fmla="*/ 8592000 w 12012000"/>
              <a:gd name="connsiteY1" fmla="*/ 0 h 6858000"/>
              <a:gd name="connsiteX2" fmla="*/ 8592000 w 12012000"/>
              <a:gd name="connsiteY2" fmla="*/ 180000 h 6858000"/>
              <a:gd name="connsiteX3" fmla="*/ 12012000 w 12012000"/>
              <a:gd name="connsiteY3" fmla="*/ 180000 h 6858000"/>
              <a:gd name="connsiteX4" fmla="*/ 12012000 w 12012000"/>
              <a:gd name="connsiteY4" fmla="*/ 6678000 h 6858000"/>
              <a:gd name="connsiteX5" fmla="*/ 8592000 w 12012000"/>
              <a:gd name="connsiteY5" fmla="*/ 6678000 h 6858000"/>
              <a:gd name="connsiteX6" fmla="*/ 8592000 w 12012000"/>
              <a:gd name="connsiteY6" fmla="*/ 6858000 h 6858000"/>
              <a:gd name="connsiteX7" fmla="*/ 0 w 1201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012000" h="6858000">
                <a:moveTo>
                  <a:pt x="0" y="0"/>
                </a:moveTo>
                <a:lnTo>
                  <a:pt x="8592000" y="0"/>
                </a:lnTo>
                <a:lnTo>
                  <a:pt x="8592000" y="180000"/>
                </a:lnTo>
                <a:lnTo>
                  <a:pt x="12012000" y="180000"/>
                </a:lnTo>
                <a:lnTo>
                  <a:pt x="12012000" y="6678000"/>
                </a:lnTo>
                <a:lnTo>
                  <a:pt x="8592000" y="6678000"/>
                </a:lnTo>
                <a:lnTo>
                  <a:pt x="85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0" tIns="0" rIns="61200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3999" y="6262080"/>
            <a:ext cx="6190934" cy="3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AF90A48-1BFB-4A19-9A1C-2851879F9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778" y="3096087"/>
            <a:ext cx="5455750" cy="1008000"/>
          </a:xfrm>
        </p:spPr>
        <p:txBody>
          <a:bodyPr/>
          <a:lstStyle>
            <a:lvl1pPr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9E79024-4B2E-43B0-8607-196181AB731F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59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X Number &amp;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F266E5-40A6-4643-B9AC-B38F272563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B790CB-E4F5-4B61-A03E-1CA0C32E3F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4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570684C-B743-402E-8778-A65199577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710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CEC7149-9A00-4CA4-B800-1BFD6EBEB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2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74F0E2-36BA-43B5-8799-77AA3367DF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9707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BA12174-6A24-4E61-8D58-B3B42C31BE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6056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3A67B21-0E8B-4922-94F9-20492309C4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46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801C20C-82D2-465E-8D45-DF1A57E045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0855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2BAD45E-2039-4F8D-9CFC-42BFA3756A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31412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#NUMBER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64A78879-6338-4F3B-864E-8FF4E08C00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57654" y="3799847"/>
            <a:ext cx="1999889" cy="846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80118439-B306-4F20-9200-1C429EADC7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01000" y="5271502"/>
            <a:ext cx="1990001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0" anchor="ctr"/>
          <a:lstStyle>
            <a:lvl1pPr marL="0" indent="0" algn="ctr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Outcome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9B7E7F2-DF6B-4441-B0B1-7E87E29BA3A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985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ED41522A-FBAF-4E5D-B592-F13855964E8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3853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AA51069C-E1DC-44A0-A6A0-2A4AB0DD4D7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84044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42F6437E-5478-451F-9BE3-E8160EA435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958950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25127DFD-53A7-41A8-B591-AEEC1203802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45749" y="2217585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89258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 40 Vertical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F76D43D-0DDD-4BAD-8213-BDBF75C3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6118" y="4338116"/>
            <a:ext cx="10839764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6D3ACF3-E1F5-4332-9836-C8E6C46591B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43438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F8FE7-66F4-4586-B49B-61E115ED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5B890-F885-418C-9812-59970CAC6B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21507-88DE-417D-8076-D9152E1E1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C7DDD-6F93-45F8-AFD6-95AA051FE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CD6042-5DF4-4624-BC32-25F68745304A}"/>
              </a:ext>
            </a:extLst>
          </p:cNvPr>
          <p:cNvSpPr/>
          <p:nvPr userDrawn="1"/>
        </p:nvSpPr>
        <p:spPr>
          <a:xfrm rot="5400000">
            <a:off x="8220300" y="371700"/>
            <a:ext cx="4343400" cy="3600000"/>
          </a:xfrm>
          <a:custGeom>
            <a:avLst/>
            <a:gdLst>
              <a:gd name="connsiteX0" fmla="*/ 0 w 4343400"/>
              <a:gd name="connsiteY0" fmla="*/ 3600000 h 3600000"/>
              <a:gd name="connsiteX1" fmla="*/ 0 w 4343400"/>
              <a:gd name="connsiteY1" fmla="*/ 0 h 3600000"/>
              <a:gd name="connsiteX2" fmla="*/ 180000 w 4343400"/>
              <a:gd name="connsiteY2" fmla="*/ 0 h 3600000"/>
              <a:gd name="connsiteX3" fmla="*/ 4343400 w 4343400"/>
              <a:gd name="connsiteY3" fmla="*/ 0 h 3600000"/>
              <a:gd name="connsiteX4" fmla="*/ 4343400 w 4343400"/>
              <a:gd name="connsiteY4" fmla="*/ 180000 h 3600000"/>
              <a:gd name="connsiteX5" fmla="*/ 180000 w 4343400"/>
              <a:gd name="connsiteY5" fmla="*/ 180000 h 3600000"/>
              <a:gd name="connsiteX6" fmla="*/ 180000 w 43434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34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4343400" y="0"/>
                </a:lnTo>
                <a:lnTo>
                  <a:pt x="43434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294759C-286C-4281-B194-581C766EEF28}"/>
              </a:ext>
            </a:extLst>
          </p:cNvPr>
          <p:cNvSpPr/>
          <p:nvPr userDrawn="1"/>
        </p:nvSpPr>
        <p:spPr>
          <a:xfrm rot="5400000">
            <a:off x="9134700" y="3800700"/>
            <a:ext cx="2514600" cy="3600000"/>
          </a:xfrm>
          <a:custGeom>
            <a:avLst/>
            <a:gdLst>
              <a:gd name="connsiteX0" fmla="*/ 0 w 2514600"/>
              <a:gd name="connsiteY0" fmla="*/ 180000 h 3600000"/>
              <a:gd name="connsiteX1" fmla="*/ 0 w 2514600"/>
              <a:gd name="connsiteY1" fmla="*/ 0 h 3600000"/>
              <a:gd name="connsiteX2" fmla="*/ 2334600 w 2514600"/>
              <a:gd name="connsiteY2" fmla="*/ 0 h 3600000"/>
              <a:gd name="connsiteX3" fmla="*/ 2514600 w 2514600"/>
              <a:gd name="connsiteY3" fmla="*/ 0 h 3600000"/>
              <a:gd name="connsiteX4" fmla="*/ 2514600 w 2514600"/>
              <a:gd name="connsiteY4" fmla="*/ 180000 h 3600000"/>
              <a:gd name="connsiteX5" fmla="*/ 2514600 w 2514600"/>
              <a:gd name="connsiteY5" fmla="*/ 3600000 h 3600000"/>
              <a:gd name="connsiteX6" fmla="*/ 2334600 w 2514600"/>
              <a:gd name="connsiteY6" fmla="*/ 3600000 h 3600000"/>
              <a:gd name="connsiteX7" fmla="*/ 2334600 w 25146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4600" h="3600000">
                <a:moveTo>
                  <a:pt x="0" y="180000"/>
                </a:moveTo>
                <a:lnTo>
                  <a:pt x="0" y="0"/>
                </a:lnTo>
                <a:lnTo>
                  <a:pt x="2334600" y="0"/>
                </a:lnTo>
                <a:lnTo>
                  <a:pt x="2514600" y="0"/>
                </a:lnTo>
                <a:lnTo>
                  <a:pt x="2514600" y="180000"/>
                </a:lnTo>
                <a:lnTo>
                  <a:pt x="2514600" y="3600000"/>
                </a:lnTo>
                <a:lnTo>
                  <a:pt x="2334600" y="3600000"/>
                </a:lnTo>
                <a:lnTo>
                  <a:pt x="23346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7894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E6622698-E93D-4214-8C21-38DBE58C2E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22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706BC54-FE11-4237-96CC-8DA267DB5D7C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58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7058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1291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31291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92000" y="2186444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92000" y="1775806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E6D854C-C76F-49BA-9E74-F438CA8EA9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7058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D447D7D-C1F4-4AD4-AE22-EB8E7F1C41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7058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49DF703-38D0-4214-9432-83570E10EF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1291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9EB6572-1A9F-4672-8E42-A4E15451CA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1291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740EB70-455C-47FF-9A9A-0D78D202ED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2000" y="4335857"/>
            <a:ext cx="2812282" cy="1242556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CD9A5773-4F50-4631-9B7A-0A2D83E5DC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92000" y="3925219"/>
            <a:ext cx="2812282" cy="297888"/>
          </a:xfr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87598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x Content Block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5350A6A-6F84-47F4-AE00-8295D96D08C8}"/>
              </a:ext>
            </a:extLst>
          </p:cNvPr>
          <p:cNvSpPr/>
          <p:nvPr userDrawn="1"/>
        </p:nvSpPr>
        <p:spPr>
          <a:xfrm rot="5400000">
            <a:off x="8677500" y="3343500"/>
            <a:ext cx="3429000" cy="3600000"/>
          </a:xfrm>
          <a:custGeom>
            <a:avLst/>
            <a:gdLst>
              <a:gd name="connsiteX0" fmla="*/ 0 w 3429000"/>
              <a:gd name="connsiteY0" fmla="*/ 180000 h 3600000"/>
              <a:gd name="connsiteX1" fmla="*/ 0 w 3429000"/>
              <a:gd name="connsiteY1" fmla="*/ 0 h 3600000"/>
              <a:gd name="connsiteX2" fmla="*/ 3249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3429000 w 3429000"/>
              <a:gd name="connsiteY5" fmla="*/ 3600000 h 3600000"/>
              <a:gd name="connsiteX6" fmla="*/ 3249000 w 3429000"/>
              <a:gd name="connsiteY6" fmla="*/ 3600000 h 3600000"/>
              <a:gd name="connsiteX7" fmla="*/ 3249000 w 34290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000" h="3600000">
                <a:moveTo>
                  <a:pt x="0" y="180000"/>
                </a:moveTo>
                <a:lnTo>
                  <a:pt x="0" y="0"/>
                </a:lnTo>
                <a:lnTo>
                  <a:pt x="3249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3429000" y="3600000"/>
                </a:lnTo>
                <a:lnTo>
                  <a:pt x="3249000" y="3600000"/>
                </a:lnTo>
                <a:lnTo>
                  <a:pt x="32490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3429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2863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863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5432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432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8000" y="3668499"/>
            <a:ext cx="3276000" cy="2238815"/>
          </a:xfrm>
        </p:spPr>
        <p:txBody>
          <a:bodyPr lIns="10800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08000" y="3068555"/>
            <a:ext cx="3276000" cy="360445"/>
          </a:xfrm>
          <a:solidFill>
            <a:schemeClr val="tx2"/>
          </a:solidFill>
        </p:spPr>
        <p:txBody>
          <a:bodyPr lIns="10800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Header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908907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71476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434044" y="2005142"/>
            <a:ext cx="823913" cy="823913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EA98CFA-B2A7-4BCC-B1DC-01CFAD2DD65E}"/>
              </a:ext>
            </a:extLst>
          </p:cNvPr>
          <p:cNvSpPr/>
          <p:nvPr userDrawn="1"/>
        </p:nvSpPr>
        <p:spPr>
          <a:xfrm rot="5400000">
            <a:off x="8677500" y="-85500"/>
            <a:ext cx="3429000" cy="3600000"/>
          </a:xfrm>
          <a:custGeom>
            <a:avLst/>
            <a:gdLst>
              <a:gd name="connsiteX0" fmla="*/ 0 w 3429000"/>
              <a:gd name="connsiteY0" fmla="*/ 3600000 h 3600000"/>
              <a:gd name="connsiteX1" fmla="*/ 0 w 3429000"/>
              <a:gd name="connsiteY1" fmla="*/ 0 h 3600000"/>
              <a:gd name="connsiteX2" fmla="*/ 180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180000 w 3429000"/>
              <a:gd name="connsiteY5" fmla="*/ 180000 h 3600000"/>
              <a:gd name="connsiteX6" fmla="*/ 180000 w 34290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59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752CBEE-7696-40FC-AB0E-8790B179D18C}"/>
              </a:ext>
            </a:extLst>
          </p:cNvPr>
          <p:cNvSpPr/>
          <p:nvPr userDrawn="1"/>
        </p:nvSpPr>
        <p:spPr>
          <a:xfrm rot="5400000">
            <a:off x="8188485" y="2854485"/>
            <a:ext cx="4407031" cy="3600000"/>
          </a:xfrm>
          <a:custGeom>
            <a:avLst/>
            <a:gdLst>
              <a:gd name="connsiteX0" fmla="*/ 0 w 4407031"/>
              <a:gd name="connsiteY0" fmla="*/ 180000 h 3600000"/>
              <a:gd name="connsiteX1" fmla="*/ 0 w 4407031"/>
              <a:gd name="connsiteY1" fmla="*/ 0 h 3600000"/>
              <a:gd name="connsiteX2" fmla="*/ 4227031 w 4407031"/>
              <a:gd name="connsiteY2" fmla="*/ 0 h 3600000"/>
              <a:gd name="connsiteX3" fmla="*/ 4407031 w 4407031"/>
              <a:gd name="connsiteY3" fmla="*/ 0 h 3600000"/>
              <a:gd name="connsiteX4" fmla="*/ 4407031 w 4407031"/>
              <a:gd name="connsiteY4" fmla="*/ 180000 h 3600000"/>
              <a:gd name="connsiteX5" fmla="*/ 4407031 w 4407031"/>
              <a:gd name="connsiteY5" fmla="*/ 3600000 h 3600000"/>
              <a:gd name="connsiteX6" fmla="*/ 4227031 w 4407031"/>
              <a:gd name="connsiteY6" fmla="*/ 3600000 h 3600000"/>
              <a:gd name="connsiteX7" fmla="*/ 4227031 w 4407031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7031" h="3600000">
                <a:moveTo>
                  <a:pt x="0" y="180000"/>
                </a:moveTo>
                <a:lnTo>
                  <a:pt x="0" y="0"/>
                </a:lnTo>
                <a:lnTo>
                  <a:pt x="4227031" y="0"/>
                </a:lnTo>
                <a:lnTo>
                  <a:pt x="4407031" y="0"/>
                </a:lnTo>
                <a:lnTo>
                  <a:pt x="4407031" y="180000"/>
                </a:lnTo>
                <a:lnTo>
                  <a:pt x="4407031" y="3600000"/>
                </a:lnTo>
                <a:lnTo>
                  <a:pt x="4227031" y="3600000"/>
                </a:lnTo>
                <a:lnTo>
                  <a:pt x="4227031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2451405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9445125-53D2-43B3-8ABC-C88E463BE7DD}"/>
              </a:ext>
            </a:extLst>
          </p:cNvPr>
          <p:cNvSpPr/>
          <p:nvPr userDrawn="1"/>
        </p:nvSpPr>
        <p:spPr>
          <a:xfrm rot="5400000">
            <a:off x="9166516" y="-574515"/>
            <a:ext cx="2450969" cy="3600000"/>
          </a:xfrm>
          <a:custGeom>
            <a:avLst/>
            <a:gdLst>
              <a:gd name="connsiteX0" fmla="*/ 0 w 2450969"/>
              <a:gd name="connsiteY0" fmla="*/ 3600000 h 3600000"/>
              <a:gd name="connsiteX1" fmla="*/ 0 w 2450969"/>
              <a:gd name="connsiteY1" fmla="*/ 0 h 3600000"/>
              <a:gd name="connsiteX2" fmla="*/ 180000 w 2450969"/>
              <a:gd name="connsiteY2" fmla="*/ 0 h 3600000"/>
              <a:gd name="connsiteX3" fmla="*/ 2450969 w 2450969"/>
              <a:gd name="connsiteY3" fmla="*/ 0 h 3600000"/>
              <a:gd name="connsiteX4" fmla="*/ 2450969 w 2450969"/>
              <a:gd name="connsiteY4" fmla="*/ 180000 h 3600000"/>
              <a:gd name="connsiteX5" fmla="*/ 180000 w 2450969"/>
              <a:gd name="connsiteY5" fmla="*/ 180000 h 3600000"/>
              <a:gd name="connsiteX6" fmla="*/ 180000 w 2450969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0969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2450969" y="0"/>
                </a:lnTo>
                <a:lnTo>
                  <a:pt x="2450969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5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Full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A18EF7D-14D0-4362-B8BD-722D3D54D4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3936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67FF01B-795B-4F5D-87AF-6CAA8DD5D48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F32FC1-1FF6-4874-9835-EB1A90F7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039E70-36A3-46C1-B30E-CA4CC0B36C5D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73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6858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8907576-77BD-4FD0-A9FE-48D249CB435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03794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03794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6363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6363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28931" y="3407563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28931" y="3005055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867711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30280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392848" y="1648853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E407FE5-15DF-40F7-B14C-0A04CC30CD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3794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7DD73F77-2E6A-450D-B4AF-8643D8AE1E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03794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F1CAED2-2A78-4780-A303-060C24C565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66363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4E77CA0B-49F8-4EE9-84A7-AB28FD1CC1E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6363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5D4F2294-CE3A-4705-BCB3-C5DAFA373C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8931" y="5736658"/>
            <a:ext cx="2034138" cy="245885"/>
          </a:xfrm>
        </p:spPr>
        <p:txBody>
          <a:bodyPr lIns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Role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7B49F9AF-7698-444D-8D12-FA0B6A713E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28931" y="5334150"/>
            <a:ext cx="2034138" cy="360445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33" name="Picture Placeholder 25">
            <a:extLst>
              <a:ext uri="{FF2B5EF4-FFF2-40B4-BE49-F238E27FC236}">
                <a16:creationId xmlns:a16="http://schemas.microsoft.com/office/drawing/2014/main" id="{6057C2E9-1501-4819-B77D-23A0268DB0F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67711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4" name="Picture Placeholder 25">
            <a:extLst>
              <a:ext uri="{FF2B5EF4-FFF2-40B4-BE49-F238E27FC236}">
                <a16:creationId xmlns:a16="http://schemas.microsoft.com/office/drawing/2014/main" id="{C77B8544-1CEE-4ED4-89E8-ED042673804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30280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Picture Placeholder 25">
            <a:extLst>
              <a:ext uri="{FF2B5EF4-FFF2-40B4-BE49-F238E27FC236}">
                <a16:creationId xmlns:a16="http://schemas.microsoft.com/office/drawing/2014/main" id="{E1131D92-0382-469E-A358-A2EC5FDCCF3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92848" y="3977948"/>
            <a:ext cx="906304" cy="1206290"/>
          </a:xfrm>
        </p:spPr>
        <p:txBody>
          <a:bodyPr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EBF36-B9CA-4962-B198-27B56B54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219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95500" y="1992933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8EA298-DD21-4B69-8125-094245EDF7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4213" y="19929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C93EFCC-1E62-4200-9E96-2476EE2581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4213" y="34311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8741D874-BD81-4469-AA1C-32517FD7C37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4213" y="48693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FB0B599-DDEF-43E9-A07F-FC328C595BCE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095500" y="3422739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3FF0857-6431-48DC-BE82-9A93C55CEFB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095500" y="4867850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2119471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740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0" tIns="0" rIns="612000" anchor="ctr"/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Drag &amp; Drop Your </a:t>
            </a:r>
            <a:br>
              <a:rPr lang="en-US" dirty="0"/>
            </a:br>
            <a:r>
              <a:rPr lang="en-US" dirty="0"/>
              <a:t>Background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bIns="756000" anchor="ctr"/>
          <a:lstStyle>
            <a:lvl1pPr algn="l">
              <a:lnSpc>
                <a:spcPct val="65000"/>
              </a:lnSpc>
              <a:defRPr sz="88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9FD1A9-E34B-4888-90DE-493861AD75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17700" y="4508500"/>
            <a:ext cx="3314700" cy="33020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Full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452AC72-D893-4C1A-83BD-9930164D89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17700" y="5180023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2EEC149-F1BE-4C36-A789-5BF73B40A2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7700" y="5683561"/>
            <a:ext cx="3314700" cy="205029"/>
          </a:xfrm>
          <a:ln>
            <a:noFill/>
          </a:ln>
        </p:spPr>
        <p:txBody>
          <a:bodyPr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CC256E6-6AE8-4950-838C-BE638FB479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17700" y="4821910"/>
            <a:ext cx="3314700" cy="205029"/>
          </a:xfrm>
        </p:spPr>
        <p:txBody>
          <a:bodyPr anchor="t"/>
          <a:lstStyle>
            <a:lvl1pPr marL="0" indent="0">
              <a:buNone/>
              <a:defRPr sz="1000" i="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318579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5246D-ECE9-473C-953D-D56C3F7B3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946F0-677D-45B4-83B9-FD3BD3FFC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1825625"/>
            <a:ext cx="1080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BE21-FA72-48F5-9A53-134902BF6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000" y="6192000"/>
            <a:ext cx="7560000" cy="36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79B29-5421-49A7-A511-D916B66A8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5764" y="6241764"/>
            <a:ext cx="270474" cy="270474"/>
          </a:xfrm>
          <a:prstGeom prst="ellipse">
            <a:avLst/>
          </a:prstGeom>
          <a:solidFill>
            <a:schemeClr val="accent1"/>
          </a:solidFill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EECC7194-A4D0-457B-9D3E-53681723AFF7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892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50" r:id="rId12"/>
    <p:sldLayoutId id="214748366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 typeface="Arial" panose="020B0604020202020204" pitchFamily="34" charset="0"/>
        <a:buChar char="●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Tx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75000"/>
            <a:lumOff val="25000"/>
          </a:schemeClr>
        </a:buClr>
        <a:buSzPct val="80000"/>
        <a:buFont typeface="Courier New" panose="02070309020205020404" pitchFamily="49" charset="0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9060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Doctor pointing on a large display">
            <a:extLst>
              <a:ext uri="{FF2B5EF4-FFF2-40B4-BE49-F238E27FC236}">
                <a16:creationId xmlns:a16="http://schemas.microsoft.com/office/drawing/2014/main" id="{8F02F647-7DBC-4618-AFF3-8CED69C5CDE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8D8E648-93B0-47FF-A306-492EFF7FC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9363" y="69012"/>
            <a:ext cx="9672637" cy="6858000"/>
          </a:xfrm>
        </p:spPr>
        <p:txBody>
          <a:bodyPr/>
          <a:lstStyle/>
          <a:p>
            <a:br>
              <a:rPr lang="en-NG" b="0" dirty="0"/>
            </a:br>
            <a:r>
              <a:rPr lang="en-US" b="0" dirty="0"/>
              <a:t> </a:t>
            </a:r>
            <a:r>
              <a:rPr lang="en-US" b="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NovaMed</a:t>
            </a:r>
            <a:r>
              <a:rPr lang="en-US" b="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Solutions:</a:t>
            </a:r>
            <a:br>
              <a:rPr lang="en-US" b="0" dirty="0"/>
            </a:br>
            <a:r>
              <a:rPr lang="en-US" b="0" dirty="0"/>
              <a:t> </a:t>
            </a:r>
            <a:r>
              <a:rPr lang="en-US" sz="2400" b="0" dirty="0"/>
              <a:t>Sales  Performance  Analysis  and Reporting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4857D70-F12B-4E1B-99F8-92DAD4349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9428" y="4975100"/>
            <a:ext cx="1950589" cy="619125"/>
          </a:xfrm>
          <a:gradFill>
            <a:gsLst>
              <a:gs pos="800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/>
          <a:lstStyle/>
          <a:p>
            <a:r>
              <a:rPr lang="en-US" dirty="0"/>
              <a:t> POD LUNA</a:t>
            </a:r>
          </a:p>
        </p:txBody>
      </p:sp>
      <p:sp>
        <p:nvSpPr>
          <p:cNvPr id="5" name="object 7" descr="Beige rectangle">
            <a:extLst>
              <a:ext uri="{FF2B5EF4-FFF2-40B4-BE49-F238E27FC236}">
                <a16:creationId xmlns:a16="http://schemas.microsoft.com/office/drawing/2014/main" id="{C85C272F-FCB2-478D-9E03-EC734D1AB6C0}"/>
              </a:ext>
            </a:extLst>
          </p:cNvPr>
          <p:cNvSpPr/>
          <p:nvPr/>
        </p:nvSpPr>
        <p:spPr bwMode="white">
          <a:xfrm>
            <a:off x="3798858" y="3881483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FCD963-8701-4D42-BE7D-B33BE4090A06}"/>
              </a:ext>
            </a:extLst>
          </p:cNvPr>
          <p:cNvSpPr txBox="1"/>
          <p:nvPr/>
        </p:nvSpPr>
        <p:spPr>
          <a:xfrm>
            <a:off x="4999088" y="4713490"/>
            <a:ext cx="1703540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525C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Ini Tom</a:t>
            </a:r>
            <a:endParaRPr lang="en-NG" sz="2800" dirty="0">
              <a:solidFill>
                <a:srgbClr val="00525C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593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Placeholder 27" descr="Woman walking through a door">
            <a:extLst>
              <a:ext uri="{FF2B5EF4-FFF2-40B4-BE49-F238E27FC236}">
                <a16:creationId xmlns:a16="http://schemas.microsoft.com/office/drawing/2014/main" id="{86D7D4AC-BE7B-45B9-AF4A-E2AF1B6C796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012000" cy="6858000"/>
          </a:xfr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D509E5E-F68C-4F2B-8EC7-43259586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9877" y="0"/>
            <a:ext cx="6058185" cy="685800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7E39F-041F-4A45-A1CF-F8C269887D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6161" y="204716"/>
            <a:ext cx="7204435" cy="6307522"/>
          </a:xfrm>
          <a:solidFill>
            <a:schemeClr val="tx2">
              <a:lumMod val="90000"/>
              <a:lumOff val="10000"/>
            </a:schemeClr>
          </a:solidFill>
        </p:spPr>
        <p:txBody>
          <a:bodyPr/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dirty="0"/>
              <a:t>Develop Overall Sales Metrics – Calculate key sales indicators such as quantity sold, cost of goods sold (COGS), revenue, profit, and profit margin.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dirty="0"/>
              <a:t> Compare Monthly Performance – Implement a Profit month-over-month comparison for revenue and Profit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dirty="0"/>
              <a:t>Identify Top 5 &amp; Bottom 5 Drugs –Rank drugs dynamically based on revenue, profit, and sales volume, with percentage contributions.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dirty="0"/>
              <a:t> Analyze Customer Performance – Identify top and underperforming customers based on sales metrics and contributions.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dirty="0"/>
              <a:t>Create Interactive Visualizations – Develop dynamic charts and slicers to allow users to explore sales performance by different dimensions.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BE4A06-2673-41EF-AF84-96B0EDEC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605" y="391482"/>
            <a:ext cx="5327882" cy="516712"/>
          </a:xfrm>
        </p:spPr>
        <p:txBody>
          <a:bodyPr/>
          <a:lstStyle/>
          <a:p>
            <a:r>
              <a:rPr lang="en-US" dirty="0"/>
              <a:t>BUSINESS PROBLEMS</a:t>
            </a:r>
          </a:p>
        </p:txBody>
      </p:sp>
      <p:sp>
        <p:nvSpPr>
          <p:cNvPr id="9" name="object 7" descr="Beige rectangle">
            <a:extLst>
              <a:ext uri="{FF2B5EF4-FFF2-40B4-BE49-F238E27FC236}">
                <a16:creationId xmlns:a16="http://schemas.microsoft.com/office/drawing/2014/main" id="{400AB11A-4D5E-4CDE-BB60-C8578F59C3E0}"/>
              </a:ext>
            </a:extLst>
          </p:cNvPr>
          <p:cNvSpPr/>
          <p:nvPr/>
        </p:nvSpPr>
        <p:spPr bwMode="white">
          <a:xfrm>
            <a:off x="2293692" y="971082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36" name="Group 35" descr="Icon Lightbulb">
            <a:extLst>
              <a:ext uri="{FF2B5EF4-FFF2-40B4-BE49-F238E27FC236}">
                <a16:creationId xmlns:a16="http://schemas.microsoft.com/office/drawing/2014/main" id="{840CA54E-FBB9-4848-A45D-E086AA4A5012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0" y="444997"/>
            <a:ext cx="300000" cy="484617"/>
            <a:chOff x="1684741" y="3186732"/>
            <a:chExt cx="530027" cy="856197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8ABB65B-B8A5-4C0E-BE4C-E88A7BB3E8A2}"/>
                </a:ext>
              </a:extLst>
            </p:cNvPr>
            <p:cNvSpPr/>
            <p:nvPr/>
          </p:nvSpPr>
          <p:spPr>
            <a:xfrm>
              <a:off x="1817248" y="3777916"/>
              <a:ext cx="265013" cy="61157"/>
            </a:xfrm>
            <a:custGeom>
              <a:avLst/>
              <a:gdLst>
                <a:gd name="connsiteX0" fmla="*/ 30578 w 265013"/>
                <a:gd name="connsiteY0" fmla="*/ 0 h 61156"/>
                <a:gd name="connsiteX1" fmla="*/ 234435 w 265013"/>
                <a:gd name="connsiteY1" fmla="*/ 0 h 61156"/>
                <a:gd name="connsiteX2" fmla="*/ 265013 w 265013"/>
                <a:gd name="connsiteY2" fmla="*/ 30578 h 61156"/>
                <a:gd name="connsiteX3" fmla="*/ 234435 w 265013"/>
                <a:gd name="connsiteY3" fmla="*/ 61157 h 61156"/>
                <a:gd name="connsiteX4" fmla="*/ 30578 w 265013"/>
                <a:gd name="connsiteY4" fmla="*/ 61157 h 61156"/>
                <a:gd name="connsiteX5" fmla="*/ 0 w 265013"/>
                <a:gd name="connsiteY5" fmla="*/ 30578 h 61156"/>
                <a:gd name="connsiteX6" fmla="*/ 30578 w 265013"/>
                <a:gd name="connsiteY6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013" h="61156">
                  <a:moveTo>
                    <a:pt x="30578" y="0"/>
                  </a:moveTo>
                  <a:lnTo>
                    <a:pt x="234435" y="0"/>
                  </a:lnTo>
                  <a:cubicBezTo>
                    <a:pt x="251763" y="0"/>
                    <a:pt x="265013" y="13251"/>
                    <a:pt x="265013" y="30578"/>
                  </a:cubicBezTo>
                  <a:cubicBezTo>
                    <a:pt x="265013" y="47906"/>
                    <a:pt x="251763" y="61157"/>
                    <a:pt x="234435" y="61157"/>
                  </a:cubicBezTo>
                  <a:lnTo>
                    <a:pt x="30578" y="61157"/>
                  </a:lnTo>
                  <a:cubicBezTo>
                    <a:pt x="13251" y="61157"/>
                    <a:pt x="0" y="47906"/>
                    <a:pt x="0" y="30578"/>
                  </a:cubicBezTo>
                  <a:cubicBezTo>
                    <a:pt x="0" y="13251"/>
                    <a:pt x="13251" y="0"/>
                    <a:pt x="30578" y="0"/>
                  </a:cubicBez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71DD07A-CE80-41D5-AEEB-65192AD34639}"/>
                </a:ext>
              </a:extLst>
            </p:cNvPr>
            <p:cNvSpPr/>
            <p:nvPr/>
          </p:nvSpPr>
          <p:spPr>
            <a:xfrm>
              <a:off x="1817248" y="3879844"/>
              <a:ext cx="265013" cy="61157"/>
            </a:xfrm>
            <a:custGeom>
              <a:avLst/>
              <a:gdLst>
                <a:gd name="connsiteX0" fmla="*/ 30578 w 265013"/>
                <a:gd name="connsiteY0" fmla="*/ 0 h 61156"/>
                <a:gd name="connsiteX1" fmla="*/ 234435 w 265013"/>
                <a:gd name="connsiteY1" fmla="*/ 0 h 61156"/>
                <a:gd name="connsiteX2" fmla="*/ 265013 w 265013"/>
                <a:gd name="connsiteY2" fmla="*/ 30578 h 61156"/>
                <a:gd name="connsiteX3" fmla="*/ 234435 w 265013"/>
                <a:gd name="connsiteY3" fmla="*/ 61157 h 61156"/>
                <a:gd name="connsiteX4" fmla="*/ 30578 w 265013"/>
                <a:gd name="connsiteY4" fmla="*/ 61157 h 61156"/>
                <a:gd name="connsiteX5" fmla="*/ 0 w 265013"/>
                <a:gd name="connsiteY5" fmla="*/ 30578 h 61156"/>
                <a:gd name="connsiteX6" fmla="*/ 30578 w 265013"/>
                <a:gd name="connsiteY6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013" h="61156">
                  <a:moveTo>
                    <a:pt x="30578" y="0"/>
                  </a:moveTo>
                  <a:lnTo>
                    <a:pt x="234435" y="0"/>
                  </a:lnTo>
                  <a:cubicBezTo>
                    <a:pt x="251763" y="0"/>
                    <a:pt x="265013" y="13251"/>
                    <a:pt x="265013" y="30578"/>
                  </a:cubicBezTo>
                  <a:cubicBezTo>
                    <a:pt x="265013" y="47906"/>
                    <a:pt x="251763" y="61157"/>
                    <a:pt x="234435" y="61157"/>
                  </a:cubicBezTo>
                  <a:lnTo>
                    <a:pt x="30578" y="61157"/>
                  </a:lnTo>
                  <a:cubicBezTo>
                    <a:pt x="13251" y="61157"/>
                    <a:pt x="0" y="47906"/>
                    <a:pt x="0" y="30578"/>
                  </a:cubicBezTo>
                  <a:cubicBezTo>
                    <a:pt x="0" y="13251"/>
                    <a:pt x="13251" y="0"/>
                    <a:pt x="30578" y="0"/>
                  </a:cubicBez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522D638-DE3D-438D-8C73-954C32D8CB63}"/>
                </a:ext>
              </a:extLst>
            </p:cNvPr>
            <p:cNvSpPr/>
            <p:nvPr/>
          </p:nvSpPr>
          <p:spPr>
            <a:xfrm>
              <a:off x="1883501" y="3981772"/>
              <a:ext cx="132507" cy="61157"/>
            </a:xfrm>
            <a:custGeom>
              <a:avLst/>
              <a:gdLst>
                <a:gd name="connsiteX0" fmla="*/ 0 w 132506"/>
                <a:gd name="connsiteY0" fmla="*/ 0 h 61156"/>
                <a:gd name="connsiteX1" fmla="*/ 66253 w 132506"/>
                <a:gd name="connsiteY1" fmla="*/ 61157 h 61156"/>
                <a:gd name="connsiteX2" fmla="*/ 132507 w 132506"/>
                <a:gd name="connsiteY2" fmla="*/ 0 h 61156"/>
                <a:gd name="connsiteX3" fmla="*/ 0 w 132506"/>
                <a:gd name="connsiteY3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506" h="61156">
                  <a:moveTo>
                    <a:pt x="0" y="0"/>
                  </a:moveTo>
                  <a:cubicBezTo>
                    <a:pt x="3058" y="34656"/>
                    <a:pt x="31598" y="61157"/>
                    <a:pt x="66253" y="61157"/>
                  </a:cubicBezTo>
                  <a:cubicBezTo>
                    <a:pt x="100909" y="61157"/>
                    <a:pt x="129449" y="34656"/>
                    <a:pt x="13250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1AB190E-B14D-440E-9910-B22D8C998B54}"/>
                </a:ext>
              </a:extLst>
            </p:cNvPr>
            <p:cNvSpPr/>
            <p:nvPr/>
          </p:nvSpPr>
          <p:spPr>
            <a:xfrm>
              <a:off x="1684741" y="3186732"/>
              <a:ext cx="530027" cy="550412"/>
            </a:xfrm>
            <a:custGeom>
              <a:avLst/>
              <a:gdLst>
                <a:gd name="connsiteX0" fmla="*/ 265013 w 530026"/>
                <a:gd name="connsiteY0" fmla="*/ 0 h 550412"/>
                <a:gd name="connsiteX1" fmla="*/ 265013 w 530026"/>
                <a:gd name="connsiteY1" fmla="*/ 0 h 550412"/>
                <a:gd name="connsiteX2" fmla="*/ 265013 w 530026"/>
                <a:gd name="connsiteY2" fmla="*/ 0 h 550412"/>
                <a:gd name="connsiteX3" fmla="*/ 0 w 530026"/>
                <a:gd name="connsiteY3" fmla="*/ 261956 h 550412"/>
                <a:gd name="connsiteX4" fmla="*/ 0 w 530026"/>
                <a:gd name="connsiteY4" fmla="*/ 271129 h 550412"/>
                <a:gd name="connsiteX5" fmla="*/ 18347 w 530026"/>
                <a:gd name="connsiteY5" fmla="*/ 362864 h 550412"/>
                <a:gd name="connsiteX6" fmla="*/ 64215 w 530026"/>
                <a:gd name="connsiteY6" fmla="*/ 438291 h 550412"/>
                <a:gd name="connsiteX7" fmla="*/ 126391 w 530026"/>
                <a:gd name="connsiteY7" fmla="*/ 539200 h 550412"/>
                <a:gd name="connsiteX8" fmla="*/ 144738 w 530026"/>
                <a:gd name="connsiteY8" fmla="*/ 550412 h 550412"/>
                <a:gd name="connsiteX9" fmla="*/ 385289 w 530026"/>
                <a:gd name="connsiteY9" fmla="*/ 550412 h 550412"/>
                <a:gd name="connsiteX10" fmla="*/ 403636 w 530026"/>
                <a:gd name="connsiteY10" fmla="*/ 539200 h 550412"/>
                <a:gd name="connsiteX11" fmla="*/ 465812 w 530026"/>
                <a:gd name="connsiteY11" fmla="*/ 438291 h 550412"/>
                <a:gd name="connsiteX12" fmla="*/ 511680 w 530026"/>
                <a:gd name="connsiteY12" fmla="*/ 362864 h 550412"/>
                <a:gd name="connsiteX13" fmla="*/ 530027 w 530026"/>
                <a:gd name="connsiteY13" fmla="*/ 271129 h 550412"/>
                <a:gd name="connsiteX14" fmla="*/ 530027 w 530026"/>
                <a:gd name="connsiteY14" fmla="*/ 261956 h 550412"/>
                <a:gd name="connsiteX15" fmla="*/ 265013 w 530026"/>
                <a:gd name="connsiteY15" fmla="*/ 0 h 550412"/>
                <a:gd name="connsiteX16" fmla="*/ 468870 w 530026"/>
                <a:gd name="connsiteY16" fmla="*/ 270110 h 550412"/>
                <a:gd name="connsiteX17" fmla="*/ 454600 w 530026"/>
                <a:gd name="connsiteY17" fmla="*/ 341460 h 550412"/>
                <a:gd name="connsiteX18" fmla="*/ 419944 w 530026"/>
                <a:gd name="connsiteY18" fmla="*/ 397520 h 550412"/>
                <a:gd name="connsiteX19" fmla="*/ 360826 w 530026"/>
                <a:gd name="connsiteY19" fmla="*/ 489256 h 550412"/>
                <a:gd name="connsiteX20" fmla="*/ 265013 w 530026"/>
                <a:gd name="connsiteY20" fmla="*/ 489256 h 550412"/>
                <a:gd name="connsiteX21" fmla="*/ 170220 w 530026"/>
                <a:gd name="connsiteY21" fmla="*/ 489256 h 550412"/>
                <a:gd name="connsiteX22" fmla="*/ 111102 w 530026"/>
                <a:gd name="connsiteY22" fmla="*/ 397520 h 550412"/>
                <a:gd name="connsiteX23" fmla="*/ 76446 w 530026"/>
                <a:gd name="connsiteY23" fmla="*/ 341460 h 550412"/>
                <a:gd name="connsiteX24" fmla="*/ 62176 w 530026"/>
                <a:gd name="connsiteY24" fmla="*/ 270110 h 550412"/>
                <a:gd name="connsiteX25" fmla="*/ 62176 w 530026"/>
                <a:gd name="connsiteY25" fmla="*/ 261956 h 550412"/>
                <a:gd name="connsiteX26" fmla="*/ 266033 w 530026"/>
                <a:gd name="connsiteY26" fmla="*/ 60138 h 550412"/>
                <a:gd name="connsiteX27" fmla="*/ 266033 w 530026"/>
                <a:gd name="connsiteY27" fmla="*/ 60138 h 550412"/>
                <a:gd name="connsiteX28" fmla="*/ 266033 w 530026"/>
                <a:gd name="connsiteY28" fmla="*/ 60138 h 550412"/>
                <a:gd name="connsiteX29" fmla="*/ 266033 w 530026"/>
                <a:gd name="connsiteY29" fmla="*/ 60138 h 550412"/>
                <a:gd name="connsiteX30" fmla="*/ 266033 w 530026"/>
                <a:gd name="connsiteY30" fmla="*/ 60138 h 550412"/>
                <a:gd name="connsiteX31" fmla="*/ 266033 w 530026"/>
                <a:gd name="connsiteY31" fmla="*/ 60138 h 550412"/>
                <a:gd name="connsiteX32" fmla="*/ 266033 w 530026"/>
                <a:gd name="connsiteY32" fmla="*/ 60138 h 550412"/>
                <a:gd name="connsiteX33" fmla="*/ 469889 w 530026"/>
                <a:gd name="connsiteY33" fmla="*/ 261956 h 550412"/>
                <a:gd name="connsiteX34" fmla="*/ 469889 w 530026"/>
                <a:gd name="connsiteY34" fmla="*/ 270110 h 550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30026" h="550412">
                  <a:moveTo>
                    <a:pt x="265013" y="0"/>
                  </a:moveTo>
                  <a:cubicBezTo>
                    <a:pt x="265013" y="0"/>
                    <a:pt x="265013" y="0"/>
                    <a:pt x="265013" y="0"/>
                  </a:cubicBezTo>
                  <a:cubicBezTo>
                    <a:pt x="265013" y="0"/>
                    <a:pt x="265013" y="0"/>
                    <a:pt x="265013" y="0"/>
                  </a:cubicBezTo>
                  <a:cubicBezTo>
                    <a:pt x="120275" y="1019"/>
                    <a:pt x="3058" y="117217"/>
                    <a:pt x="0" y="261956"/>
                  </a:cubicBezTo>
                  <a:lnTo>
                    <a:pt x="0" y="271129"/>
                  </a:lnTo>
                  <a:cubicBezTo>
                    <a:pt x="1019" y="302727"/>
                    <a:pt x="7135" y="333305"/>
                    <a:pt x="18347" y="362864"/>
                  </a:cubicBezTo>
                  <a:cubicBezTo>
                    <a:pt x="29559" y="390385"/>
                    <a:pt x="44848" y="415867"/>
                    <a:pt x="64215" y="438291"/>
                  </a:cubicBezTo>
                  <a:cubicBezTo>
                    <a:pt x="88678" y="464793"/>
                    <a:pt x="115179" y="516776"/>
                    <a:pt x="126391" y="539200"/>
                  </a:cubicBezTo>
                  <a:cubicBezTo>
                    <a:pt x="129449" y="546335"/>
                    <a:pt x="136584" y="550412"/>
                    <a:pt x="144738" y="550412"/>
                  </a:cubicBezTo>
                  <a:lnTo>
                    <a:pt x="385289" y="550412"/>
                  </a:lnTo>
                  <a:cubicBezTo>
                    <a:pt x="393443" y="550412"/>
                    <a:pt x="400578" y="546335"/>
                    <a:pt x="403636" y="539200"/>
                  </a:cubicBezTo>
                  <a:cubicBezTo>
                    <a:pt x="414848" y="516776"/>
                    <a:pt x="441349" y="464793"/>
                    <a:pt x="465812" y="438291"/>
                  </a:cubicBezTo>
                  <a:cubicBezTo>
                    <a:pt x="485178" y="415867"/>
                    <a:pt x="501487" y="390385"/>
                    <a:pt x="511680" y="362864"/>
                  </a:cubicBezTo>
                  <a:cubicBezTo>
                    <a:pt x="522892" y="333305"/>
                    <a:pt x="529008" y="302727"/>
                    <a:pt x="530027" y="271129"/>
                  </a:cubicBezTo>
                  <a:lnTo>
                    <a:pt x="530027" y="261956"/>
                  </a:lnTo>
                  <a:cubicBezTo>
                    <a:pt x="526969" y="117217"/>
                    <a:pt x="409752" y="1019"/>
                    <a:pt x="265013" y="0"/>
                  </a:cubicBezTo>
                  <a:close/>
                  <a:moveTo>
                    <a:pt x="468870" y="270110"/>
                  </a:moveTo>
                  <a:cubicBezTo>
                    <a:pt x="467851" y="294573"/>
                    <a:pt x="462754" y="319035"/>
                    <a:pt x="454600" y="341460"/>
                  </a:cubicBezTo>
                  <a:cubicBezTo>
                    <a:pt x="446446" y="361845"/>
                    <a:pt x="435234" y="381212"/>
                    <a:pt x="419944" y="397520"/>
                  </a:cubicBezTo>
                  <a:cubicBezTo>
                    <a:pt x="396501" y="426060"/>
                    <a:pt x="376115" y="456638"/>
                    <a:pt x="360826" y="489256"/>
                  </a:cubicBezTo>
                  <a:lnTo>
                    <a:pt x="265013" y="489256"/>
                  </a:lnTo>
                  <a:lnTo>
                    <a:pt x="170220" y="489256"/>
                  </a:lnTo>
                  <a:cubicBezTo>
                    <a:pt x="153912" y="456638"/>
                    <a:pt x="133526" y="426060"/>
                    <a:pt x="111102" y="397520"/>
                  </a:cubicBezTo>
                  <a:cubicBezTo>
                    <a:pt x="96832" y="381212"/>
                    <a:pt x="84600" y="361845"/>
                    <a:pt x="76446" y="341460"/>
                  </a:cubicBezTo>
                  <a:cubicBezTo>
                    <a:pt x="67273" y="319035"/>
                    <a:pt x="63196" y="294573"/>
                    <a:pt x="62176" y="270110"/>
                  </a:cubicBezTo>
                  <a:lnTo>
                    <a:pt x="62176" y="261956"/>
                  </a:lnTo>
                  <a:cubicBezTo>
                    <a:pt x="64215" y="150854"/>
                    <a:pt x="154931" y="61157"/>
                    <a:pt x="266033" y="60138"/>
                  </a:cubicBezTo>
                  <a:lnTo>
                    <a:pt x="266033" y="60138"/>
                  </a:lnTo>
                  <a:lnTo>
                    <a:pt x="266033" y="60138"/>
                  </a:lnTo>
                  <a:cubicBezTo>
                    <a:pt x="266033" y="60138"/>
                    <a:pt x="266033" y="60138"/>
                    <a:pt x="266033" y="60138"/>
                  </a:cubicBezTo>
                  <a:cubicBezTo>
                    <a:pt x="266033" y="60138"/>
                    <a:pt x="266033" y="60138"/>
                    <a:pt x="266033" y="60138"/>
                  </a:cubicBezTo>
                  <a:lnTo>
                    <a:pt x="266033" y="60138"/>
                  </a:lnTo>
                  <a:lnTo>
                    <a:pt x="266033" y="60138"/>
                  </a:lnTo>
                  <a:cubicBezTo>
                    <a:pt x="377134" y="61157"/>
                    <a:pt x="467851" y="149835"/>
                    <a:pt x="469889" y="261956"/>
                  </a:cubicBezTo>
                  <a:lnTo>
                    <a:pt x="469889" y="270110"/>
                  </a:ln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947A81F6-261F-44F4-B660-7BD323AE29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DC0198-E919-4071-9C4B-5B3D19A46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262307" y="274265"/>
            <a:ext cx="751146" cy="751146"/>
            <a:chOff x="5482999" y="1607028"/>
            <a:chExt cx="1200866" cy="120086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67DDF34-4085-4945-A320-585AC8EBAAF2}"/>
                </a:ext>
              </a:extLst>
            </p:cNvPr>
            <p:cNvSpPr/>
            <p:nvPr/>
          </p:nvSpPr>
          <p:spPr>
            <a:xfrm>
              <a:off x="5587207" y="1711236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521D40-9109-4214-B458-FAB53B1DA80D}"/>
                </a:ext>
              </a:extLst>
            </p:cNvPr>
            <p:cNvSpPr/>
            <p:nvPr/>
          </p:nvSpPr>
          <p:spPr>
            <a:xfrm>
              <a:off x="5482999" y="1607028"/>
              <a:ext cx="1200866" cy="120086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DACABBE-2743-4234-8A2A-CA06A5D317DB}"/>
              </a:ext>
            </a:extLst>
          </p:cNvPr>
          <p:cNvSpPr txBox="1"/>
          <p:nvPr/>
        </p:nvSpPr>
        <p:spPr>
          <a:xfrm>
            <a:off x="3233943" y="1175799"/>
            <a:ext cx="2428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Sales Analysis</a:t>
            </a:r>
            <a:endParaRPr lang="en-NG" sz="28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203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43AA89EE-AF00-A13F-DBB1-8D833B506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962522" cy="36000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Dashboard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3A89EE-6AA3-4B99-9CDF-856E7609A2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8135" y="360000"/>
            <a:ext cx="11335729" cy="641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6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E43A28-1AC5-781E-6840-1CC45ADB57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554355-BBE9-83B4-293D-226B049F5E8A}"/>
              </a:ext>
            </a:extLst>
          </p:cNvPr>
          <p:cNvSpPr/>
          <p:nvPr/>
        </p:nvSpPr>
        <p:spPr>
          <a:xfrm>
            <a:off x="2484408" y="433401"/>
            <a:ext cx="6228272" cy="5943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solidFill>
                <a:srgbClr val="0B596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solidFill>
                <a:srgbClr val="0B596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solidFill>
                <a:srgbClr val="0B596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B5966"/>
                </a:solidFill>
              </a:rPr>
              <a:t>Analyze Customer Demographics – Generate insights into customer distribution based on age, gender, and buyer type.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solidFill>
                <a:srgbClr val="0B596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B5966"/>
                </a:solidFill>
              </a:rPr>
              <a:t>Calculate Average Revenue per Customer – Determine the average revenue generated per customer segment.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solidFill>
                <a:srgbClr val="0B596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B5966"/>
                </a:solidFill>
              </a:rPr>
              <a:t>Visualize Revenue Distribution – Display revenue breakdown by country and customer type.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solidFill>
                <a:srgbClr val="0B596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B5966"/>
                </a:solidFill>
              </a:rPr>
              <a:t>Revenue by Gender &amp; Age – Provide insights into purchasing trends based on demographic segments.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solidFill>
                <a:srgbClr val="0B596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B5966"/>
                </a:solidFill>
              </a:rPr>
              <a:t>Geographical Insights – Highlight revenue share from the top two countries using maps or heatmaps.</a:t>
            </a:r>
            <a:endParaRPr lang="en-NG" dirty="0">
              <a:solidFill>
                <a:srgbClr val="0B5966"/>
              </a:solidFill>
            </a:endParaRPr>
          </a:p>
        </p:txBody>
      </p:sp>
      <p:grpSp>
        <p:nvGrpSpPr>
          <p:cNvPr id="23" name="Group 22" descr="Icon Lightbulb">
            <a:extLst>
              <a:ext uri="{FF2B5EF4-FFF2-40B4-BE49-F238E27FC236}">
                <a16:creationId xmlns:a16="http://schemas.microsoft.com/office/drawing/2014/main" id="{C9C6490B-48AA-5CC8-E573-B0D202424A09}"/>
              </a:ext>
            </a:extLst>
          </p:cNvPr>
          <p:cNvGrpSpPr>
            <a:grpSpLocks noChangeAspect="1"/>
          </p:cNvGrpSpPr>
          <p:nvPr/>
        </p:nvGrpSpPr>
        <p:grpSpPr>
          <a:xfrm>
            <a:off x="8029650" y="711697"/>
            <a:ext cx="300000" cy="484617"/>
            <a:chOff x="1684741" y="3186732"/>
            <a:chExt cx="530027" cy="856197"/>
          </a:xfrm>
          <a:solidFill>
            <a:srgbClr val="0B5966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E9F6174-6BE1-C850-905D-0970DFAB6D72}"/>
                </a:ext>
              </a:extLst>
            </p:cNvPr>
            <p:cNvSpPr/>
            <p:nvPr/>
          </p:nvSpPr>
          <p:spPr>
            <a:xfrm>
              <a:off x="1817248" y="3777916"/>
              <a:ext cx="265013" cy="61157"/>
            </a:xfrm>
            <a:custGeom>
              <a:avLst/>
              <a:gdLst>
                <a:gd name="connsiteX0" fmla="*/ 30578 w 265013"/>
                <a:gd name="connsiteY0" fmla="*/ 0 h 61156"/>
                <a:gd name="connsiteX1" fmla="*/ 234435 w 265013"/>
                <a:gd name="connsiteY1" fmla="*/ 0 h 61156"/>
                <a:gd name="connsiteX2" fmla="*/ 265013 w 265013"/>
                <a:gd name="connsiteY2" fmla="*/ 30578 h 61156"/>
                <a:gd name="connsiteX3" fmla="*/ 234435 w 265013"/>
                <a:gd name="connsiteY3" fmla="*/ 61157 h 61156"/>
                <a:gd name="connsiteX4" fmla="*/ 30578 w 265013"/>
                <a:gd name="connsiteY4" fmla="*/ 61157 h 61156"/>
                <a:gd name="connsiteX5" fmla="*/ 0 w 265013"/>
                <a:gd name="connsiteY5" fmla="*/ 30578 h 61156"/>
                <a:gd name="connsiteX6" fmla="*/ 30578 w 265013"/>
                <a:gd name="connsiteY6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013" h="61156">
                  <a:moveTo>
                    <a:pt x="30578" y="0"/>
                  </a:moveTo>
                  <a:lnTo>
                    <a:pt x="234435" y="0"/>
                  </a:lnTo>
                  <a:cubicBezTo>
                    <a:pt x="251763" y="0"/>
                    <a:pt x="265013" y="13251"/>
                    <a:pt x="265013" y="30578"/>
                  </a:cubicBezTo>
                  <a:cubicBezTo>
                    <a:pt x="265013" y="47906"/>
                    <a:pt x="251763" y="61157"/>
                    <a:pt x="234435" y="61157"/>
                  </a:cubicBezTo>
                  <a:lnTo>
                    <a:pt x="30578" y="61157"/>
                  </a:lnTo>
                  <a:cubicBezTo>
                    <a:pt x="13251" y="61157"/>
                    <a:pt x="0" y="47906"/>
                    <a:pt x="0" y="30578"/>
                  </a:cubicBezTo>
                  <a:cubicBezTo>
                    <a:pt x="0" y="13251"/>
                    <a:pt x="13251" y="0"/>
                    <a:pt x="30578" y="0"/>
                  </a:cubicBezTo>
                  <a:close/>
                </a:path>
              </a:pathLst>
            </a:custGeom>
            <a:grpFill/>
            <a:ln w="10120" cap="flat">
              <a:solidFill>
                <a:srgbClr val="0B596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0900FA-F6F0-64E8-5302-2125904503DA}"/>
                </a:ext>
              </a:extLst>
            </p:cNvPr>
            <p:cNvSpPr/>
            <p:nvPr/>
          </p:nvSpPr>
          <p:spPr>
            <a:xfrm>
              <a:off x="1817248" y="3879844"/>
              <a:ext cx="265013" cy="61157"/>
            </a:xfrm>
            <a:custGeom>
              <a:avLst/>
              <a:gdLst>
                <a:gd name="connsiteX0" fmla="*/ 30578 w 265013"/>
                <a:gd name="connsiteY0" fmla="*/ 0 h 61156"/>
                <a:gd name="connsiteX1" fmla="*/ 234435 w 265013"/>
                <a:gd name="connsiteY1" fmla="*/ 0 h 61156"/>
                <a:gd name="connsiteX2" fmla="*/ 265013 w 265013"/>
                <a:gd name="connsiteY2" fmla="*/ 30578 h 61156"/>
                <a:gd name="connsiteX3" fmla="*/ 234435 w 265013"/>
                <a:gd name="connsiteY3" fmla="*/ 61157 h 61156"/>
                <a:gd name="connsiteX4" fmla="*/ 30578 w 265013"/>
                <a:gd name="connsiteY4" fmla="*/ 61157 h 61156"/>
                <a:gd name="connsiteX5" fmla="*/ 0 w 265013"/>
                <a:gd name="connsiteY5" fmla="*/ 30578 h 61156"/>
                <a:gd name="connsiteX6" fmla="*/ 30578 w 265013"/>
                <a:gd name="connsiteY6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013" h="61156">
                  <a:moveTo>
                    <a:pt x="30578" y="0"/>
                  </a:moveTo>
                  <a:lnTo>
                    <a:pt x="234435" y="0"/>
                  </a:lnTo>
                  <a:cubicBezTo>
                    <a:pt x="251763" y="0"/>
                    <a:pt x="265013" y="13251"/>
                    <a:pt x="265013" y="30578"/>
                  </a:cubicBezTo>
                  <a:cubicBezTo>
                    <a:pt x="265013" y="47906"/>
                    <a:pt x="251763" y="61157"/>
                    <a:pt x="234435" y="61157"/>
                  </a:cubicBezTo>
                  <a:lnTo>
                    <a:pt x="30578" y="61157"/>
                  </a:lnTo>
                  <a:cubicBezTo>
                    <a:pt x="13251" y="61157"/>
                    <a:pt x="0" y="47906"/>
                    <a:pt x="0" y="30578"/>
                  </a:cubicBezTo>
                  <a:cubicBezTo>
                    <a:pt x="0" y="13251"/>
                    <a:pt x="13251" y="0"/>
                    <a:pt x="30578" y="0"/>
                  </a:cubicBezTo>
                  <a:close/>
                </a:path>
              </a:pathLst>
            </a:custGeom>
            <a:grpFill/>
            <a:ln w="10120" cap="flat">
              <a:solidFill>
                <a:srgbClr val="0B596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72D9DA0-2506-4B8B-2E76-34832B242120}"/>
                </a:ext>
              </a:extLst>
            </p:cNvPr>
            <p:cNvSpPr/>
            <p:nvPr/>
          </p:nvSpPr>
          <p:spPr>
            <a:xfrm>
              <a:off x="1883501" y="3981772"/>
              <a:ext cx="132507" cy="61157"/>
            </a:xfrm>
            <a:custGeom>
              <a:avLst/>
              <a:gdLst>
                <a:gd name="connsiteX0" fmla="*/ 0 w 132506"/>
                <a:gd name="connsiteY0" fmla="*/ 0 h 61156"/>
                <a:gd name="connsiteX1" fmla="*/ 66253 w 132506"/>
                <a:gd name="connsiteY1" fmla="*/ 61157 h 61156"/>
                <a:gd name="connsiteX2" fmla="*/ 132507 w 132506"/>
                <a:gd name="connsiteY2" fmla="*/ 0 h 61156"/>
                <a:gd name="connsiteX3" fmla="*/ 0 w 132506"/>
                <a:gd name="connsiteY3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506" h="61156">
                  <a:moveTo>
                    <a:pt x="0" y="0"/>
                  </a:moveTo>
                  <a:cubicBezTo>
                    <a:pt x="3058" y="34656"/>
                    <a:pt x="31598" y="61157"/>
                    <a:pt x="66253" y="61157"/>
                  </a:cubicBezTo>
                  <a:cubicBezTo>
                    <a:pt x="100909" y="61157"/>
                    <a:pt x="129449" y="34656"/>
                    <a:pt x="13250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10120" cap="flat">
              <a:solidFill>
                <a:srgbClr val="0B596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C5CEBD2-33B4-3F69-9BBF-A175C37EA5BF}"/>
                </a:ext>
              </a:extLst>
            </p:cNvPr>
            <p:cNvSpPr/>
            <p:nvPr/>
          </p:nvSpPr>
          <p:spPr>
            <a:xfrm>
              <a:off x="1684741" y="3186732"/>
              <a:ext cx="530027" cy="550412"/>
            </a:xfrm>
            <a:custGeom>
              <a:avLst/>
              <a:gdLst>
                <a:gd name="connsiteX0" fmla="*/ 265013 w 530026"/>
                <a:gd name="connsiteY0" fmla="*/ 0 h 550412"/>
                <a:gd name="connsiteX1" fmla="*/ 265013 w 530026"/>
                <a:gd name="connsiteY1" fmla="*/ 0 h 550412"/>
                <a:gd name="connsiteX2" fmla="*/ 265013 w 530026"/>
                <a:gd name="connsiteY2" fmla="*/ 0 h 550412"/>
                <a:gd name="connsiteX3" fmla="*/ 0 w 530026"/>
                <a:gd name="connsiteY3" fmla="*/ 261956 h 550412"/>
                <a:gd name="connsiteX4" fmla="*/ 0 w 530026"/>
                <a:gd name="connsiteY4" fmla="*/ 271129 h 550412"/>
                <a:gd name="connsiteX5" fmla="*/ 18347 w 530026"/>
                <a:gd name="connsiteY5" fmla="*/ 362864 h 550412"/>
                <a:gd name="connsiteX6" fmla="*/ 64215 w 530026"/>
                <a:gd name="connsiteY6" fmla="*/ 438291 h 550412"/>
                <a:gd name="connsiteX7" fmla="*/ 126391 w 530026"/>
                <a:gd name="connsiteY7" fmla="*/ 539200 h 550412"/>
                <a:gd name="connsiteX8" fmla="*/ 144738 w 530026"/>
                <a:gd name="connsiteY8" fmla="*/ 550412 h 550412"/>
                <a:gd name="connsiteX9" fmla="*/ 385289 w 530026"/>
                <a:gd name="connsiteY9" fmla="*/ 550412 h 550412"/>
                <a:gd name="connsiteX10" fmla="*/ 403636 w 530026"/>
                <a:gd name="connsiteY10" fmla="*/ 539200 h 550412"/>
                <a:gd name="connsiteX11" fmla="*/ 465812 w 530026"/>
                <a:gd name="connsiteY11" fmla="*/ 438291 h 550412"/>
                <a:gd name="connsiteX12" fmla="*/ 511680 w 530026"/>
                <a:gd name="connsiteY12" fmla="*/ 362864 h 550412"/>
                <a:gd name="connsiteX13" fmla="*/ 530027 w 530026"/>
                <a:gd name="connsiteY13" fmla="*/ 271129 h 550412"/>
                <a:gd name="connsiteX14" fmla="*/ 530027 w 530026"/>
                <a:gd name="connsiteY14" fmla="*/ 261956 h 550412"/>
                <a:gd name="connsiteX15" fmla="*/ 265013 w 530026"/>
                <a:gd name="connsiteY15" fmla="*/ 0 h 550412"/>
                <a:gd name="connsiteX16" fmla="*/ 468870 w 530026"/>
                <a:gd name="connsiteY16" fmla="*/ 270110 h 550412"/>
                <a:gd name="connsiteX17" fmla="*/ 454600 w 530026"/>
                <a:gd name="connsiteY17" fmla="*/ 341460 h 550412"/>
                <a:gd name="connsiteX18" fmla="*/ 419944 w 530026"/>
                <a:gd name="connsiteY18" fmla="*/ 397520 h 550412"/>
                <a:gd name="connsiteX19" fmla="*/ 360826 w 530026"/>
                <a:gd name="connsiteY19" fmla="*/ 489256 h 550412"/>
                <a:gd name="connsiteX20" fmla="*/ 265013 w 530026"/>
                <a:gd name="connsiteY20" fmla="*/ 489256 h 550412"/>
                <a:gd name="connsiteX21" fmla="*/ 170220 w 530026"/>
                <a:gd name="connsiteY21" fmla="*/ 489256 h 550412"/>
                <a:gd name="connsiteX22" fmla="*/ 111102 w 530026"/>
                <a:gd name="connsiteY22" fmla="*/ 397520 h 550412"/>
                <a:gd name="connsiteX23" fmla="*/ 76446 w 530026"/>
                <a:gd name="connsiteY23" fmla="*/ 341460 h 550412"/>
                <a:gd name="connsiteX24" fmla="*/ 62176 w 530026"/>
                <a:gd name="connsiteY24" fmla="*/ 270110 h 550412"/>
                <a:gd name="connsiteX25" fmla="*/ 62176 w 530026"/>
                <a:gd name="connsiteY25" fmla="*/ 261956 h 550412"/>
                <a:gd name="connsiteX26" fmla="*/ 266033 w 530026"/>
                <a:gd name="connsiteY26" fmla="*/ 60138 h 550412"/>
                <a:gd name="connsiteX27" fmla="*/ 266033 w 530026"/>
                <a:gd name="connsiteY27" fmla="*/ 60138 h 550412"/>
                <a:gd name="connsiteX28" fmla="*/ 266033 w 530026"/>
                <a:gd name="connsiteY28" fmla="*/ 60138 h 550412"/>
                <a:gd name="connsiteX29" fmla="*/ 266033 w 530026"/>
                <a:gd name="connsiteY29" fmla="*/ 60138 h 550412"/>
                <a:gd name="connsiteX30" fmla="*/ 266033 w 530026"/>
                <a:gd name="connsiteY30" fmla="*/ 60138 h 550412"/>
                <a:gd name="connsiteX31" fmla="*/ 266033 w 530026"/>
                <a:gd name="connsiteY31" fmla="*/ 60138 h 550412"/>
                <a:gd name="connsiteX32" fmla="*/ 266033 w 530026"/>
                <a:gd name="connsiteY32" fmla="*/ 60138 h 550412"/>
                <a:gd name="connsiteX33" fmla="*/ 469889 w 530026"/>
                <a:gd name="connsiteY33" fmla="*/ 261956 h 550412"/>
                <a:gd name="connsiteX34" fmla="*/ 469889 w 530026"/>
                <a:gd name="connsiteY34" fmla="*/ 270110 h 550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30026" h="550412">
                  <a:moveTo>
                    <a:pt x="265013" y="0"/>
                  </a:moveTo>
                  <a:cubicBezTo>
                    <a:pt x="265013" y="0"/>
                    <a:pt x="265013" y="0"/>
                    <a:pt x="265013" y="0"/>
                  </a:cubicBezTo>
                  <a:cubicBezTo>
                    <a:pt x="265013" y="0"/>
                    <a:pt x="265013" y="0"/>
                    <a:pt x="265013" y="0"/>
                  </a:cubicBezTo>
                  <a:cubicBezTo>
                    <a:pt x="120275" y="1019"/>
                    <a:pt x="3058" y="117217"/>
                    <a:pt x="0" y="261956"/>
                  </a:cubicBezTo>
                  <a:lnTo>
                    <a:pt x="0" y="271129"/>
                  </a:lnTo>
                  <a:cubicBezTo>
                    <a:pt x="1019" y="302727"/>
                    <a:pt x="7135" y="333305"/>
                    <a:pt x="18347" y="362864"/>
                  </a:cubicBezTo>
                  <a:cubicBezTo>
                    <a:pt x="29559" y="390385"/>
                    <a:pt x="44848" y="415867"/>
                    <a:pt x="64215" y="438291"/>
                  </a:cubicBezTo>
                  <a:cubicBezTo>
                    <a:pt x="88678" y="464793"/>
                    <a:pt x="115179" y="516776"/>
                    <a:pt x="126391" y="539200"/>
                  </a:cubicBezTo>
                  <a:cubicBezTo>
                    <a:pt x="129449" y="546335"/>
                    <a:pt x="136584" y="550412"/>
                    <a:pt x="144738" y="550412"/>
                  </a:cubicBezTo>
                  <a:lnTo>
                    <a:pt x="385289" y="550412"/>
                  </a:lnTo>
                  <a:cubicBezTo>
                    <a:pt x="393443" y="550412"/>
                    <a:pt x="400578" y="546335"/>
                    <a:pt x="403636" y="539200"/>
                  </a:cubicBezTo>
                  <a:cubicBezTo>
                    <a:pt x="414848" y="516776"/>
                    <a:pt x="441349" y="464793"/>
                    <a:pt x="465812" y="438291"/>
                  </a:cubicBezTo>
                  <a:cubicBezTo>
                    <a:pt x="485178" y="415867"/>
                    <a:pt x="501487" y="390385"/>
                    <a:pt x="511680" y="362864"/>
                  </a:cubicBezTo>
                  <a:cubicBezTo>
                    <a:pt x="522892" y="333305"/>
                    <a:pt x="529008" y="302727"/>
                    <a:pt x="530027" y="271129"/>
                  </a:cubicBezTo>
                  <a:lnTo>
                    <a:pt x="530027" y="261956"/>
                  </a:lnTo>
                  <a:cubicBezTo>
                    <a:pt x="526969" y="117217"/>
                    <a:pt x="409752" y="1019"/>
                    <a:pt x="265013" y="0"/>
                  </a:cubicBezTo>
                  <a:close/>
                  <a:moveTo>
                    <a:pt x="468870" y="270110"/>
                  </a:moveTo>
                  <a:cubicBezTo>
                    <a:pt x="467851" y="294573"/>
                    <a:pt x="462754" y="319035"/>
                    <a:pt x="454600" y="341460"/>
                  </a:cubicBezTo>
                  <a:cubicBezTo>
                    <a:pt x="446446" y="361845"/>
                    <a:pt x="435234" y="381212"/>
                    <a:pt x="419944" y="397520"/>
                  </a:cubicBezTo>
                  <a:cubicBezTo>
                    <a:pt x="396501" y="426060"/>
                    <a:pt x="376115" y="456638"/>
                    <a:pt x="360826" y="489256"/>
                  </a:cubicBezTo>
                  <a:lnTo>
                    <a:pt x="265013" y="489256"/>
                  </a:lnTo>
                  <a:lnTo>
                    <a:pt x="170220" y="489256"/>
                  </a:lnTo>
                  <a:cubicBezTo>
                    <a:pt x="153912" y="456638"/>
                    <a:pt x="133526" y="426060"/>
                    <a:pt x="111102" y="397520"/>
                  </a:cubicBezTo>
                  <a:cubicBezTo>
                    <a:pt x="96832" y="381212"/>
                    <a:pt x="84600" y="361845"/>
                    <a:pt x="76446" y="341460"/>
                  </a:cubicBezTo>
                  <a:cubicBezTo>
                    <a:pt x="67273" y="319035"/>
                    <a:pt x="63196" y="294573"/>
                    <a:pt x="62176" y="270110"/>
                  </a:cubicBezTo>
                  <a:lnTo>
                    <a:pt x="62176" y="261956"/>
                  </a:lnTo>
                  <a:cubicBezTo>
                    <a:pt x="64215" y="150854"/>
                    <a:pt x="154931" y="61157"/>
                    <a:pt x="266033" y="60138"/>
                  </a:cubicBezTo>
                  <a:lnTo>
                    <a:pt x="266033" y="60138"/>
                  </a:lnTo>
                  <a:lnTo>
                    <a:pt x="266033" y="60138"/>
                  </a:lnTo>
                  <a:cubicBezTo>
                    <a:pt x="266033" y="60138"/>
                    <a:pt x="266033" y="60138"/>
                    <a:pt x="266033" y="60138"/>
                  </a:cubicBezTo>
                  <a:cubicBezTo>
                    <a:pt x="266033" y="60138"/>
                    <a:pt x="266033" y="60138"/>
                    <a:pt x="266033" y="60138"/>
                  </a:cubicBezTo>
                  <a:lnTo>
                    <a:pt x="266033" y="60138"/>
                  </a:lnTo>
                  <a:lnTo>
                    <a:pt x="266033" y="60138"/>
                  </a:lnTo>
                  <a:cubicBezTo>
                    <a:pt x="377134" y="61157"/>
                    <a:pt x="467851" y="149835"/>
                    <a:pt x="469889" y="261956"/>
                  </a:cubicBezTo>
                  <a:lnTo>
                    <a:pt x="469889" y="270110"/>
                  </a:lnTo>
                  <a:close/>
                </a:path>
              </a:pathLst>
            </a:custGeom>
            <a:grpFill/>
            <a:ln w="10120" cap="flat">
              <a:solidFill>
                <a:srgbClr val="0B596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4D7A77A-72BA-39D0-6AA9-A50AE6F7B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7804077" y="540965"/>
            <a:ext cx="751146" cy="751146"/>
            <a:chOff x="5482999" y="1607028"/>
            <a:chExt cx="1200866" cy="120086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3EB0794-656F-D451-E1D4-8E6789A64559}"/>
                </a:ext>
              </a:extLst>
            </p:cNvPr>
            <p:cNvSpPr/>
            <p:nvPr/>
          </p:nvSpPr>
          <p:spPr>
            <a:xfrm>
              <a:off x="5587207" y="1711236"/>
              <a:ext cx="992451" cy="992451"/>
            </a:xfrm>
            <a:prstGeom prst="rect">
              <a:avLst/>
            </a:prstGeom>
            <a:noFill/>
            <a:ln w="6350">
              <a:solidFill>
                <a:srgbClr val="0B5966">
                  <a:alpha val="2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4214BCA-3218-5625-B416-070D466B2DFE}"/>
                </a:ext>
              </a:extLst>
            </p:cNvPr>
            <p:cNvSpPr/>
            <p:nvPr/>
          </p:nvSpPr>
          <p:spPr>
            <a:xfrm>
              <a:off x="5482999" y="1607028"/>
              <a:ext cx="1200866" cy="1200866"/>
            </a:xfrm>
            <a:prstGeom prst="rect">
              <a:avLst/>
            </a:prstGeom>
            <a:noFill/>
            <a:ln w="6350">
              <a:solidFill>
                <a:srgbClr val="0B5966">
                  <a:alpha val="2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1" name="Title 2">
            <a:extLst>
              <a:ext uri="{FF2B5EF4-FFF2-40B4-BE49-F238E27FC236}">
                <a16:creationId xmlns:a16="http://schemas.microsoft.com/office/drawing/2014/main" id="{1FBCCD1D-AECF-6005-CC71-BE886A053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794" y="644820"/>
            <a:ext cx="2263199" cy="516712"/>
          </a:xfrm>
        </p:spPr>
        <p:txBody>
          <a:bodyPr/>
          <a:lstStyle/>
          <a:p>
            <a:r>
              <a:rPr lang="en-US" dirty="0">
                <a:solidFill>
                  <a:srgbClr val="0B5966"/>
                </a:solidFill>
              </a:rPr>
              <a:t>D</a:t>
            </a:r>
            <a:r>
              <a:rPr lang="en-US" cap="none" dirty="0">
                <a:solidFill>
                  <a:srgbClr val="0B5966"/>
                </a:solidFill>
              </a:rPr>
              <a:t>ashboard 2  </a:t>
            </a:r>
            <a:endParaRPr lang="en-US" dirty="0">
              <a:solidFill>
                <a:srgbClr val="0B596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C80EC3-392C-4BDB-AA39-817C682FFAF3}"/>
              </a:ext>
            </a:extLst>
          </p:cNvPr>
          <p:cNvSpPr txBox="1"/>
          <p:nvPr/>
        </p:nvSpPr>
        <p:spPr>
          <a:xfrm>
            <a:off x="4064936" y="1126137"/>
            <a:ext cx="31769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52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Analysis</a:t>
            </a:r>
            <a:endParaRPr lang="en-NG" sz="2800" dirty="0">
              <a:solidFill>
                <a:srgbClr val="00525C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900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785616-AFF1-D58B-43B2-EE5B02EF8C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5E7150AE-AFEA-5D02-14E9-C13C20813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962522" cy="36000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Dashboard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852048-E87A-4526-B589-957DDD1A2F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971" r="-323"/>
          <a:stretch/>
        </p:blipFill>
        <p:spPr>
          <a:xfrm>
            <a:off x="345916" y="56367"/>
            <a:ext cx="11500322" cy="674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961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Placeholder 47" descr="Doctor pointing at CAT scans">
            <a:extLst>
              <a:ext uri="{FF2B5EF4-FFF2-40B4-BE49-F238E27FC236}">
                <a16:creationId xmlns:a16="http://schemas.microsoft.com/office/drawing/2014/main" id="{51DAB4F3-6A41-481C-8A3E-932EDFC9FED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0000" y="179109"/>
            <a:ext cx="11832000" cy="6513922"/>
          </a:xfr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3CBC84C2-2B48-4B15-A420-8B5F2BDE2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64969"/>
            <a:ext cx="11832000" cy="652806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Revenue and profit move together consistently showing costs are stable and predictable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Revenue is high in January then drops bi-monthly until July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July and September sales peak and remain stable toward end of the year </a:t>
            </a:r>
          </a:p>
          <a:p>
            <a:endParaRPr lang="en-US" sz="28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  </a:t>
            </a: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Suggestions: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Investigate the reason for the bi-monthly peaks and dips –potential seasonality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Focus on drugs that bring in the most revenue during peak seasons to ensure adequate supply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B898379A-942F-47A5-80B4-B1C6F09FCB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* According to a Survey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DB908-45C5-4999-982F-0A82DA013F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9784603-2F8F-493A-894B-9ECFC3587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81478" y="5747713"/>
            <a:ext cx="1629044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4C6318-AE1B-44AA-AE7E-9E0A5FF5D960}"/>
              </a:ext>
            </a:extLst>
          </p:cNvPr>
          <p:cNvSpPr txBox="1"/>
          <p:nvPr/>
        </p:nvSpPr>
        <p:spPr>
          <a:xfrm>
            <a:off x="4762091" y="479793"/>
            <a:ext cx="30859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Monthly Trends</a:t>
            </a:r>
            <a:endParaRPr lang="en-NG" sz="32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691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42A32-81A4-42DF-835B-DE4DCB7E53FF}"/>
              </a:ext>
            </a:extLst>
          </p:cNvPr>
          <p:cNvSpPr txBox="1"/>
          <p:nvPr/>
        </p:nvSpPr>
        <p:spPr>
          <a:xfrm>
            <a:off x="1759527" y="523220"/>
            <a:ext cx="867294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Top Performing Drugs: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Doxycycline, Ergocalciferol, Lisinopril (~$3.5M each)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Clonazepam ($3.1M)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Ezetimibe ($3.0M)</a:t>
            </a:r>
          </a:p>
          <a:p>
            <a:endParaRPr lang="en-US" sz="20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Balanced revenue across top products.</a:t>
            </a:r>
          </a:p>
          <a:p>
            <a:pPr marL="0" indent="0">
              <a:buNone/>
            </a:pPr>
            <a:endParaRPr lang="en-US" sz="20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Underperforming Drugs: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Warfarin ($229K)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Montelukast ($395K)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Amoxicillin, Prednisone, Metformin (~$560K–600K)</a:t>
            </a:r>
          </a:p>
          <a:p>
            <a:pPr marL="0" indent="0">
              <a:buNone/>
            </a:pPr>
            <a:endParaRPr lang="en-US" sz="20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NG" sz="20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8E1DA2-DFD6-43DC-BD46-2CB687701854}"/>
              </a:ext>
            </a:extLst>
          </p:cNvPr>
          <p:cNvSpPr txBox="1"/>
          <p:nvPr/>
        </p:nvSpPr>
        <p:spPr>
          <a:xfrm>
            <a:off x="4613564" y="0"/>
            <a:ext cx="36379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Product Performance</a:t>
            </a:r>
            <a:endParaRPr lang="en-NG" sz="28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14F0C-A748-4D46-9858-C223C16C477B}"/>
              </a:ext>
            </a:extLst>
          </p:cNvPr>
          <p:cNvSpPr txBox="1"/>
          <p:nvPr/>
        </p:nvSpPr>
        <p:spPr>
          <a:xfrm>
            <a:off x="1759527" y="4816703"/>
            <a:ext cx="870462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525C"/>
                </a:solidFill>
              </a:rPr>
              <a:t>Suggestions: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B5966"/>
                </a:solidFill>
              </a:rPr>
              <a:t>Investigate potential pricing or demand issues for underperforming drugs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B5966"/>
                </a:solidFill>
              </a:rPr>
              <a:t>Consider revamping marketing strategies for underperforming drugs</a:t>
            </a:r>
          </a:p>
        </p:txBody>
      </p:sp>
    </p:spTree>
    <p:extLst>
      <p:ext uri="{BB962C8B-B14F-4D97-AF65-F5344CB8AC3E}">
        <p14:creationId xmlns:p14="http://schemas.microsoft.com/office/powerpoint/2010/main" val="3340796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 descr="Doctor standing in front of a computer&#10;">
            <a:extLst>
              <a:ext uri="{FF2B5EF4-FFF2-40B4-BE49-F238E27FC236}">
                <a16:creationId xmlns:a16="http://schemas.microsoft.com/office/drawing/2014/main" id="{D4AB4507-F77A-44A5-B290-3F3D4817B7B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4592135-A11E-4178-A320-510C4B749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61CED-575A-4A61-B181-A442461326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917E9BF-7C5E-4DE7-8C66-9B69A207D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511184" y="3716527"/>
            <a:ext cx="9169633" cy="0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14DCD19-05BE-4D3F-A9E1-A9353D509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58121" y="2630172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9527B99-C015-4364-A9D0-E9EF5F8CC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19527" y="2630172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2EAB4BE-ED20-4BB8-A23B-B02A1115A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58121" y="4752270"/>
            <a:ext cx="0" cy="969367"/>
          </a:xfrm>
          <a:prstGeom prst="line">
            <a:avLst/>
          </a:prstGeom>
          <a:ln w="3175">
            <a:solidFill>
              <a:schemeClr val="bg1">
                <a:lumMod val="95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FD62E98-66F5-4889-9663-8CC913587437}"/>
              </a:ext>
            </a:extLst>
          </p:cNvPr>
          <p:cNvSpPr txBox="1"/>
          <p:nvPr/>
        </p:nvSpPr>
        <p:spPr>
          <a:xfrm>
            <a:off x="623457" y="1820045"/>
            <a:ext cx="1082039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Over 80% of buyers are Sellers with less than 15% are Users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Revenue is evenly distributed across various Buyer Types: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Preferred Customers: $23M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New Customers: $21M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Frequent Buyers: $19M</a:t>
            </a:r>
          </a:p>
          <a:p>
            <a:endParaRPr lang="en-US" sz="20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Suggestions: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Preferred customers bring in the most revenue, so implement a plan that focuses on converting customers New Customers and Frequent Buyers to Preferred Customers.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Implement discounts or incentives for larger customers and optimized pricing for Preferred Customers</a:t>
            </a:r>
          </a:p>
          <a:p>
            <a:endParaRPr lang="en-NG" sz="20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928B8-E349-4753-9588-5A4DA3E895C7}"/>
              </a:ext>
            </a:extLst>
          </p:cNvPr>
          <p:cNvSpPr txBox="1"/>
          <p:nvPr/>
        </p:nvSpPr>
        <p:spPr>
          <a:xfrm>
            <a:off x="4000921" y="519520"/>
            <a:ext cx="44652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Performance</a:t>
            </a:r>
            <a:endParaRPr lang="en-NG" sz="32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836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32E52-1B70-4F84-B381-E9D9871504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E764F8-F02A-4522-8C90-F67222FA0F46}"/>
              </a:ext>
            </a:extLst>
          </p:cNvPr>
          <p:cNvSpPr txBox="1"/>
          <p:nvPr/>
        </p:nvSpPr>
        <p:spPr>
          <a:xfrm>
            <a:off x="1585541" y="1041976"/>
            <a:ext cx="9756132" cy="5139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Country Revenue:</a:t>
            </a:r>
          </a:p>
          <a:p>
            <a:endParaRPr lang="en-US" sz="24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Canada: $32M (revenue more than doubles other countries)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Australia: $15M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Germany / UK: ~$7M each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France / USA: ~$6M each</a:t>
            </a:r>
          </a:p>
          <a:p>
            <a:endParaRPr lang="en-US" sz="1800" dirty="0"/>
          </a:p>
          <a:p>
            <a:endParaRPr lang="en-US" sz="2800" dirty="0">
              <a:solidFill>
                <a:srgbClr val="0B5966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800" dirty="0">
                <a:solidFill>
                  <a:srgbClr val="0B596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Suggestions:</a:t>
            </a:r>
          </a:p>
          <a:p>
            <a:endParaRPr lang="en-US" sz="2800" dirty="0">
              <a:solidFill>
                <a:srgbClr val="0B5966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B596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Determine if other markets are emerging or underperforming.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B596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Investigate Canada and Australia’s marketing strategies to implement into other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B596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Other regions could focus on obtaining more Sellers to increase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B596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All regions should develop a plan to increase the number of Buyer users.</a:t>
            </a:r>
          </a:p>
          <a:p>
            <a:endParaRPr lang="en-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56ABBA-1E42-4B7C-8EC2-2914D730E204}"/>
              </a:ext>
            </a:extLst>
          </p:cNvPr>
          <p:cNvSpPr txBox="1"/>
          <p:nvPr/>
        </p:nvSpPr>
        <p:spPr>
          <a:xfrm>
            <a:off x="3893128" y="457201"/>
            <a:ext cx="51409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Geographical Performance</a:t>
            </a:r>
            <a:endParaRPr lang="en-NG" sz="32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719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Group of people in a science lab working">
            <a:extLst>
              <a:ext uri="{FF2B5EF4-FFF2-40B4-BE49-F238E27FC236}">
                <a16:creationId xmlns:a16="http://schemas.microsoft.com/office/drawing/2014/main" id="{634673D1-FDF8-445C-9EC3-CEE2865DFD8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0000" y="179109"/>
            <a:ext cx="11832000" cy="6513922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D25444F-B85F-42E8-9E0A-A625CA1FD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09C69-D3CD-4837-8831-CFA5A72454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42" name="Graphic 224" descr="Icon Checked">
            <a:extLst>
              <a:ext uri="{FF2B5EF4-FFF2-40B4-BE49-F238E27FC236}">
                <a16:creationId xmlns:a16="http://schemas.microsoft.com/office/drawing/2014/main" id="{3C1D5D02-096E-4AC5-8F00-E5C0CE9BE9E5}"/>
              </a:ext>
            </a:extLst>
          </p:cNvPr>
          <p:cNvSpPr/>
          <p:nvPr/>
        </p:nvSpPr>
        <p:spPr>
          <a:xfrm>
            <a:off x="8169480" y="1212602"/>
            <a:ext cx="130251" cy="93072"/>
          </a:xfrm>
          <a:custGeom>
            <a:avLst/>
            <a:gdLst>
              <a:gd name="connsiteX0" fmla="*/ 23512 w 130250"/>
              <a:gd name="connsiteY0" fmla="*/ 46596 h 93071"/>
              <a:gd name="connsiteX1" fmla="*/ 5299 w 130250"/>
              <a:gd name="connsiteY1" fmla="*/ 44770 h 93071"/>
              <a:gd name="connsiteX2" fmla="*/ 2540 w 130250"/>
              <a:gd name="connsiteY2" fmla="*/ 56820 h 93071"/>
              <a:gd name="connsiteX3" fmla="*/ 39010 w 130250"/>
              <a:gd name="connsiteY3" fmla="*/ 89567 h 93071"/>
              <a:gd name="connsiteX4" fmla="*/ 60710 w 130250"/>
              <a:gd name="connsiteY4" fmla="*/ 88839 h 93071"/>
              <a:gd name="connsiteX5" fmla="*/ 128440 w 130250"/>
              <a:gd name="connsiteY5" fmla="*/ 13003 h 93071"/>
              <a:gd name="connsiteX6" fmla="*/ 123853 w 130250"/>
              <a:gd name="connsiteY6" fmla="*/ 1200 h 93071"/>
              <a:gd name="connsiteX7" fmla="*/ 106013 w 130250"/>
              <a:gd name="connsiteY7" fmla="*/ 4235 h 93071"/>
              <a:gd name="connsiteX8" fmla="*/ 48300 w 130250"/>
              <a:gd name="connsiteY8" fmla="*/ 68854 h 93071"/>
              <a:gd name="connsiteX9" fmla="*/ 23512 w 130250"/>
              <a:gd name="connsiteY9" fmla="*/ 46596 h 93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0250" h="93071">
                <a:moveTo>
                  <a:pt x="23512" y="46596"/>
                </a:moveTo>
                <a:cubicBezTo>
                  <a:pt x="19245" y="42764"/>
                  <a:pt x="11091" y="41947"/>
                  <a:pt x="5299" y="44770"/>
                </a:cubicBezTo>
                <a:cubicBezTo>
                  <a:pt x="-492" y="47593"/>
                  <a:pt x="-1727" y="52988"/>
                  <a:pt x="2540" y="56820"/>
                </a:cubicBezTo>
                <a:lnTo>
                  <a:pt x="39010" y="89567"/>
                </a:lnTo>
                <a:cubicBezTo>
                  <a:pt x="44548" y="94540"/>
                  <a:pt x="55961" y="94157"/>
                  <a:pt x="60710" y="88839"/>
                </a:cubicBezTo>
                <a:lnTo>
                  <a:pt x="128440" y="13003"/>
                </a:lnTo>
                <a:cubicBezTo>
                  <a:pt x="132100" y="8905"/>
                  <a:pt x="130046" y="3621"/>
                  <a:pt x="123853" y="1200"/>
                </a:cubicBezTo>
                <a:cubicBezTo>
                  <a:pt x="117660" y="-1221"/>
                  <a:pt x="109673" y="137"/>
                  <a:pt x="106013" y="4235"/>
                </a:cubicBezTo>
                <a:lnTo>
                  <a:pt x="48300" y="68854"/>
                </a:lnTo>
                <a:lnTo>
                  <a:pt x="23512" y="46596"/>
                </a:lnTo>
                <a:close/>
              </a:path>
            </a:pathLst>
          </a:custGeom>
          <a:solidFill>
            <a:schemeClr val="tx1"/>
          </a:solidFill>
          <a:ln w="295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311C9C-09E4-4F68-9454-32938058192A}"/>
              </a:ext>
            </a:extLst>
          </p:cNvPr>
          <p:cNvSpPr txBox="1"/>
          <p:nvPr/>
        </p:nvSpPr>
        <p:spPr>
          <a:xfrm>
            <a:off x="1192611" y="1692836"/>
            <a:ext cx="3961280" cy="390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Canada and Australia bring in the most revenue 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Suggestions: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It is risky to depend on two regions to bring in the majority of revenue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Expand business in Europe and US to diversify revenue </a:t>
            </a:r>
          </a:p>
          <a:p>
            <a:endParaRPr lang="en-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4AB087-DFE1-4B0E-B908-7766058CAE5B}"/>
              </a:ext>
            </a:extLst>
          </p:cNvPr>
          <p:cNvSpPr txBox="1"/>
          <p:nvPr/>
        </p:nvSpPr>
        <p:spPr>
          <a:xfrm>
            <a:off x="2895600" y="612807"/>
            <a:ext cx="6655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10000"/>
                    <a:lumOff val="9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Top two contributing countries</a:t>
            </a:r>
            <a:endParaRPr lang="en-NG" sz="3600" dirty="0">
              <a:solidFill>
                <a:schemeClr val="tx2">
                  <a:lumMod val="10000"/>
                  <a:lumOff val="9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36BAEC-34F0-4260-8DD1-8BC920A568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568" y="1678352"/>
            <a:ext cx="5708755" cy="454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823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429F02-7E8D-405F-86D3-2E794F83D8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29E624-81CD-4FDA-84A4-2C52AF4B8AE4}"/>
              </a:ext>
            </a:extLst>
          </p:cNvPr>
          <p:cNvSpPr txBox="1"/>
          <p:nvPr/>
        </p:nvSpPr>
        <p:spPr>
          <a:xfrm>
            <a:off x="2796920" y="2001982"/>
            <a:ext cx="659816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Gender 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Male: 47%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Female</a:t>
            </a:r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:</a:t>
            </a: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32.5%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Other: 20.5%</a:t>
            </a:r>
          </a:p>
          <a:p>
            <a:endParaRPr lang="en-US" sz="20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Suggestions: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Segment marketing campaigns by gender preferences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Determine if “Other” category is intentional or due to inconclusive reporting or categorization issues </a:t>
            </a:r>
          </a:p>
          <a:p>
            <a:endParaRPr lang="en-NG" sz="20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3CFB8A-946C-441A-9191-5ABE860397A8}"/>
              </a:ext>
            </a:extLst>
          </p:cNvPr>
          <p:cNvSpPr txBox="1"/>
          <p:nvPr/>
        </p:nvSpPr>
        <p:spPr>
          <a:xfrm>
            <a:off x="3412156" y="623455"/>
            <a:ext cx="53676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2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Demographics</a:t>
            </a:r>
            <a:endParaRPr lang="en-NG" sz="3600" dirty="0">
              <a:solidFill>
                <a:schemeClr val="bg2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406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DAA8C3-5CB6-4353-8E91-75891963D7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3A3129A-39AB-4FB7-A504-E43C54168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121" y="1108363"/>
            <a:ext cx="7169465" cy="468283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2B4B9A6-A94E-45C2-BFE6-A3913C40203B}"/>
              </a:ext>
            </a:extLst>
          </p:cNvPr>
          <p:cNvSpPr txBox="1"/>
          <p:nvPr/>
        </p:nvSpPr>
        <p:spPr>
          <a:xfrm>
            <a:off x="211412" y="752555"/>
            <a:ext cx="4599709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Average customer age is 50 however,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Highest spending group are 18–24-year-olds from the UK &amp; Germany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Highest spending group in Australia are 25–34-year-olds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50 plus group dominate other countries.</a:t>
            </a:r>
          </a:p>
          <a:p>
            <a:endParaRPr lang="en-US" sz="20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Suggestions: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Look into why the 35-44 age group in the US does not bring in any revenue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Investigate which medications are most popular and when customers purchase them to ensure they are in stock and potentially decrease bi-monthly dips </a:t>
            </a:r>
          </a:p>
          <a:p>
            <a:endParaRPr lang="en-NG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F0F75C-0BC3-4B1E-A614-10E4E265E780}"/>
              </a:ext>
            </a:extLst>
          </p:cNvPr>
          <p:cNvSpPr txBox="1"/>
          <p:nvPr/>
        </p:nvSpPr>
        <p:spPr>
          <a:xfrm>
            <a:off x="2790664" y="73024"/>
            <a:ext cx="56051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10000"/>
                    <a:lumOff val="9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Spending Behavior</a:t>
            </a:r>
            <a:endParaRPr lang="en-NG" sz="3200" dirty="0">
              <a:solidFill>
                <a:schemeClr val="tx2">
                  <a:lumMod val="10000"/>
                  <a:lumOff val="9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791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672534-C38E-4EDA-B5DC-8F54204D88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A5BD8F-3121-4E8E-BFCC-CBC2097A0C6B}"/>
              </a:ext>
            </a:extLst>
          </p:cNvPr>
          <p:cNvSpPr txBox="1"/>
          <p:nvPr/>
        </p:nvSpPr>
        <p:spPr>
          <a:xfrm>
            <a:off x="1108363" y="2098963"/>
            <a:ext cx="1033436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Expand top 3 drugs and focus on increasing revenue for other top performing drugs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Improve or phase out bottom performers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Implement targeting marketing to increase buyer volume for Users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Focus on transitioning New Customers and Frequent Buyers to Preferred Customers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Smooth  bi-monthly dips with promotions or supply planning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Grow US, France &amp; UK regions to reduce dependency on Canada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Target specific spending groups that bring in the most revenue for each country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It is important to focus on implanting a new customer growth strategy </a:t>
            </a:r>
          </a:p>
          <a:p>
            <a:endParaRPr lang="en-NG" sz="20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BA599B-41C8-421F-9368-9EFCE64DAE43}"/>
              </a:ext>
            </a:extLst>
          </p:cNvPr>
          <p:cNvSpPr txBox="1"/>
          <p:nvPr/>
        </p:nvSpPr>
        <p:spPr>
          <a:xfrm>
            <a:off x="4285536" y="654628"/>
            <a:ext cx="36209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10000"/>
                    <a:lumOff val="90000"/>
                  </a:schemeClr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Key Suggestions</a:t>
            </a:r>
            <a:endParaRPr lang="en-NG" sz="3600" dirty="0">
              <a:solidFill>
                <a:schemeClr val="tx2">
                  <a:lumMod val="10000"/>
                  <a:lumOff val="90000"/>
                </a:schemeClr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217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Placeholder 47" descr="Doctor pointing at CAT scans">
            <a:extLst>
              <a:ext uri="{FF2B5EF4-FFF2-40B4-BE49-F238E27FC236}">
                <a16:creationId xmlns:a16="http://schemas.microsoft.com/office/drawing/2014/main" id="{51DAB4F3-6A41-481C-8A3E-932EDFC9FED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0000" y="179109"/>
            <a:ext cx="11832000" cy="6513922"/>
          </a:xfr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3CBC84C2-2B48-4B15-A420-8B5F2BDE2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00" y="179109"/>
            <a:ext cx="11940000" cy="6528062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DB908-45C5-4999-982F-0A82DA013F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9784603-2F8F-493A-894B-9ECFC3587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81478" y="5747713"/>
            <a:ext cx="1629044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4C6318-AE1B-44AA-AE7E-9E0A5FF5D960}"/>
              </a:ext>
            </a:extLst>
          </p:cNvPr>
          <p:cNvSpPr txBox="1"/>
          <p:nvPr/>
        </p:nvSpPr>
        <p:spPr>
          <a:xfrm>
            <a:off x="4762091" y="479793"/>
            <a:ext cx="21120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Points</a:t>
            </a:r>
            <a:endParaRPr lang="en-NG" sz="32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C391D4-AF93-4B57-AA39-FE2EE6F90A76}"/>
              </a:ext>
            </a:extLst>
          </p:cNvPr>
          <p:cNvSpPr txBox="1"/>
          <p:nvPr/>
        </p:nvSpPr>
        <p:spPr>
          <a:xfrm>
            <a:off x="1875371" y="1312411"/>
            <a:ext cx="8866723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Strengths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Exceptionally high profit margin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Diversified top-performing products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Stable cost structure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NovaMed</a:t>
            </a: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Solutions has a loyal customer base with 100% return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High Revenue per customer (356.55K)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Diverse age-base spending patterns in various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32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Possible over-reliance on seasonal peaks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Huge difference between User and Seller groups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Only two countries bring in the majority of revenue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100% repeat rate could mean lack of focus on new customer acquisition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Potential underperformance in US &amp; France</a:t>
            </a:r>
          </a:p>
          <a:p>
            <a:endParaRPr lang="en-NG" sz="2000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67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Scientist looking at test tube">
            <a:extLst>
              <a:ext uri="{FF2B5EF4-FFF2-40B4-BE49-F238E27FC236}">
                <a16:creationId xmlns:a16="http://schemas.microsoft.com/office/drawing/2014/main" id="{F923CFB6-5709-405C-8762-B310D3F2195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17F5BF1-88DB-42F2-98A6-4C7FBFC31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F39051-1049-4508-8373-6A289966A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399" y="2238573"/>
            <a:ext cx="10629202" cy="119042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bject 7" descr="Beige rectangle">
            <a:extLst>
              <a:ext uri="{FF2B5EF4-FFF2-40B4-BE49-F238E27FC236}">
                <a16:creationId xmlns:a16="http://schemas.microsoft.com/office/drawing/2014/main" id="{2D7851E8-1907-4C8A-A16F-E461B5BFA940}"/>
              </a:ext>
            </a:extLst>
          </p:cNvPr>
          <p:cNvSpPr/>
          <p:nvPr/>
        </p:nvSpPr>
        <p:spPr bwMode="white">
          <a:xfrm flipV="1">
            <a:off x="1204699" y="3791668"/>
            <a:ext cx="347076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6954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 Healthcare Pitch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MS Healthcare Pitch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2"/>
            </a:gs>
            <a:gs pos="100000">
              <a:schemeClr val="accent2"/>
            </a:gs>
          </a:gsLst>
          <a:lin ang="144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MB Healthcare Pitch Deck SB_v3" id="{F20654C3-30CB-4A23-AE37-CA3918CCFD51}" vid="{71C4247B-9648-406B-9B0E-E712402798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3BAED8-F9E7-4D41-86E9-333473F909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4BDB64-2AF8-42D4-96C8-B6B6F098993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C66BDC7-24D2-4343-8D41-18F9C23F86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Healthcare office pitch deck</Template>
  <TotalTime>930</TotalTime>
  <Words>852</Words>
  <Application>Microsoft Office PowerPoint</Application>
  <PresentationFormat>Widescreen</PresentationFormat>
  <Paragraphs>135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</vt:lpstr>
      <vt:lpstr>Calibri</vt:lpstr>
      <vt:lpstr>Courier New</vt:lpstr>
      <vt:lpstr>Gill Sans MT</vt:lpstr>
      <vt:lpstr>Segoe UI Black</vt:lpstr>
      <vt:lpstr>Segoe UI Semibold</vt:lpstr>
      <vt:lpstr>Wingdings</vt:lpstr>
      <vt:lpstr>Office Theme</vt:lpstr>
      <vt:lpstr>  NovaMed Solutions:  Sales  Performance  Analysis  and Reporting</vt:lpstr>
      <vt:lpstr>BUSINESS PROBLEMS</vt:lpstr>
      <vt:lpstr>Dashboard 1</vt:lpstr>
      <vt:lpstr>Dashboard 2  </vt:lpstr>
      <vt:lpstr>Dashboard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healthcare OFFICE solution</dc:title>
  <dc:creator>ini tom</dc:creator>
  <cp:lastModifiedBy>ini tom</cp:lastModifiedBy>
  <cp:revision>8</cp:revision>
  <dcterms:created xsi:type="dcterms:W3CDTF">2026-03-27T07:50:22Z</dcterms:created>
  <dcterms:modified xsi:type="dcterms:W3CDTF">2026-04-02T18:43:24Z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